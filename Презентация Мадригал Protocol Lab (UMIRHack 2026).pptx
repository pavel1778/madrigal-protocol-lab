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JetBrains Mono"/>
      <ns0:bold ns1:id="rIdFont21"/>
      <ns0:regular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cef50fef-aae5-47e6-b563-458b8ee3a3de.fntdata" /><ns0:Relationship Id="rIdFont20" Type="http://schemas.openxmlformats.org/officeDocument/2006/relationships/font" Target="fonts/5744ae2e-ffd5-4073-8da2-693cb2762ed1.fntdata" /><ns0:Relationship Id="rIdFont21" Type="http://schemas.openxmlformats.org/officeDocument/2006/relationships/font" Target="fonts/8d392dd4-4a89-423b-9c2a-5758070f2db3.fntdata" /><ns0:Relationship Id="rIdFont22" Type="http://schemas.openxmlformats.org/officeDocument/2006/relationships/font" Target="fonts/61de9d35-efe5-4025-9636-b33f7a8eac4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486400"/>
            <a:ext cx="10668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2175" y="609600"/>
            <a:ext cx="1647825" cy="733425"/>
          </a:xfrm>
          <a:prstGeom prst="roundRect">
            <a:avLst>
              <a:gd name="adj" fmla="val 155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38475" y="5686425"/>
            <a:ext cx="1962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14925" y="5686425"/>
            <a:ext cx="1962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91375" y="5686425"/>
            <a:ext cx="1962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67825" y="5686425"/>
            <a:ext cx="196215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38475" y="5686425"/>
            <a:ext cx="9525" cy="3619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14925" y="5686425"/>
            <a:ext cx="9525" cy="3619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91375" y="5686425"/>
            <a:ext cx="9525" cy="3619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67825" y="5686425"/>
            <a:ext cx="9525" cy="3619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09600"/>
            <a:ext cx="6572250" cy="1598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UMIRHACK 2026 · КЕЙС #02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962025"/>
            <a:ext cx="8501062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Мадригал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1621035"/>
            <a:ext cx="6572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Восстановление недокументированного бинарного протокола поверх 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7406" y="771525"/>
            <a:ext cx="1464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350" i="0" u="none">
                <a:solidFill>
                  <a:srgbClr val="0EA5E9"/>
                </a:solidFill>
                <a:latin typeface="JetBrains Mono"/>
              </a:rPr>
              <a:t>HTTP 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7406" y="1028700"/>
            <a:ext cx="146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64748B"/>
                </a:solidFill>
                <a:latin typeface="Plus Jakarta Sans"/>
              </a:rPr>
              <a:t>Команда разработки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756" y="5686425"/>
            <a:ext cx="24526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JetBrains Mono"/>
              </a:rPr>
              <a:t>ЯЗЫК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56" y="5857875"/>
            <a:ext cx="2452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Python 3.12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3921" y="5686425"/>
            <a:ext cx="244078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JetBrains Mono"/>
              </a:rPr>
              <a:t>ИНТЕРФЕЙС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3921" y="5857875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PySide6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0371" y="5686425"/>
            <a:ext cx="244078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JetBrains Mono"/>
              </a:rPr>
              <a:t>ПАРСИНГ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0371" y="5857875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dpkt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6821" y="5686425"/>
            <a:ext cx="244078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JetBrains Mono"/>
              </a:rPr>
              <a:t>ТЕСТЫ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6821" y="5857875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pytest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33271" y="5686425"/>
            <a:ext cx="244078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48B"/>
                </a:solidFill>
                <a:latin typeface="JetBrains Mono"/>
              </a:rPr>
              <a:t>СРЕДА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3271" y="5857875"/>
            <a:ext cx="2440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JetBrains Mono"/>
              </a:rPr>
              <a:t>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78298"/>
            <a:ext cx="518160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78298"/>
            <a:ext cx="5181600" cy="2533650"/>
          </a:xfrm>
          <a:prstGeom prst="roundRect">
            <a:avLst>
              <a:gd name="adj" fmla="val 45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6325" y="3768923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62725" y="3768923"/>
            <a:ext cx="45529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2892623"/>
            <a:ext cx="685800" cy="685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2892623"/>
            <a:ext cx="68580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3083123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3083123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399276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4307085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462141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992760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307085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4621410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КОМАНДА HTTP 418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Состав команды и зоны ответственности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2625" y="2968823"/>
            <a:ext cx="1860798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@Pasha1778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4925" y="3968948"/>
            <a:ext cx="54625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Архитектура системы: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модульные контракты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4925" y="4283273"/>
            <a:ext cx="54625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Захват и сборка: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обработка pcap/pcapng трафика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4925" y="4597598"/>
            <a:ext cx="5462587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Графический UI: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интерактивное окно PySide6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9025" y="2968823"/>
            <a:ext cx="1900832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@petruan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3968948"/>
            <a:ext cx="54006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Правила разбора: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гипотезы и фрейминг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4283273"/>
            <a:ext cx="54006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Тестирование: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проверка контрпримеров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1325" y="4597598"/>
            <a:ext cx="54006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Код-ревью: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обеспечение надежности и качества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2625" y="2968823"/>
            <a:ext cx="231728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Сабадаш Павел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9025" y="2968823"/>
            <a:ext cx="236982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Предков Никита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092523"/>
            <a:ext cx="10668000" cy="2028825"/>
          </a:xfrm>
          <a:prstGeom prst="roundRect">
            <a:avLst>
              <a:gd name="adj" fmla="val 56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6800" y="3426023"/>
            <a:ext cx="10058400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388048"/>
            <a:ext cx="52387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388048"/>
            <a:ext cx="523875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6800" y="2397323"/>
            <a:ext cx="2133600" cy="83820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14700" y="2397323"/>
            <a:ext cx="2133600" cy="83820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62600" y="2397323"/>
            <a:ext cx="5562600" cy="838200"/>
          </a:xfrm>
          <a:prstGeom prst="roundRect">
            <a:avLst>
              <a:gd name="adj" fmla="val 909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3559373"/>
            <a:ext cx="1238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3559373"/>
            <a:ext cx="152400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ПРОБЛЕМА ФРЕЙМИНГА TCP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Границы пакета и сообщения — разные вещи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58782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ПАКЕТ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500" y="2587823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ПАКЕТ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7775" y="2587823"/>
            <a:ext cx="6572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59E0B"/>
                </a:solidFill>
                <a:latin typeface="Plus Jakarta Sans"/>
              </a:rPr>
              <a:t>ПАКЕТ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7300" y="3540323"/>
            <a:ext cx="3488531" cy="161925"/>
          </a:xfrm>
          <a:prstGeom prst="rect">
            <a:avLst/>
          </a:prstGeom>
          <a:noFill/>
        </p:spPr>
        <p:txBody>
          <a:bodyPr wrap="none" lIns="12382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F4444"/>
                </a:solidFill>
                <a:latin typeface="JetBrains Mono"/>
              </a:rPr>
              <a:t>TCP разрезает сообщения посередине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6700" y="3540323"/>
            <a:ext cx="3810000" cy="161925"/>
          </a:xfrm>
          <a:prstGeom prst="rect">
            <a:avLst/>
          </a:prstGeom>
          <a:noFill/>
        </p:spPr>
        <p:txBody>
          <a:bodyPr wrap="none" lIns="1524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0B981"/>
                </a:solidFill>
                <a:latin typeface="JetBrains Mono"/>
              </a:rPr>
              <a:t>Требуется сборка на уровне приложения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626173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Поведение TCP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930973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Потоковый протокол не сохраняет границы прикладных сообщений. Разделение происходит по сегментам сети.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4626173"/>
            <a:ext cx="576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Задача анализатора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930973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Выделить корректный заголовок длины (Length-Prefixed Framing) и точно восстановить границы фреймов.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037" y="2883098"/>
            <a:ext cx="2143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Сообщение A (Начало)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9937" y="2883098"/>
            <a:ext cx="2143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Сообщение A (Конец)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212" y="2883098"/>
            <a:ext cx="6429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Сообщение B (Большая полезная нагрузка)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365795"/>
            <a:ext cx="5181600" cy="4958804"/>
          </a:xfrm>
          <a:prstGeom prst="roundRect">
            <a:avLst>
              <a:gd name="adj" fmla="val 230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365795"/>
            <a:ext cx="5181600" cy="4958804"/>
          </a:xfrm>
          <a:prstGeom prst="roundRect">
            <a:avLst>
              <a:gd name="adj" fmla="val 2304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6315075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1365795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1365795"/>
            <a:ext cx="38100" cy="4958804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34075" y="1365795"/>
            <a:ext cx="9525" cy="49588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6315075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1365795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1365795"/>
            <a:ext cx="38100" cy="4958804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20475" y="1365795"/>
            <a:ext cx="9525" cy="495880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465933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780258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3094583"/>
            <a:ext cx="1143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0" y="2465933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00" y="2780258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1300" y="3094583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ВХОДНЫЕ ДАННЫЕ И ЦЕЛЬ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Дано и требуется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1708695"/>
            <a:ext cx="590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JetBrains Mono"/>
              </a:rPr>
              <a:t>ДАНО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1994445"/>
            <a:ext cx="593824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Исходный материал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1300" y="1708695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JetBrains Mono"/>
              </a:rPr>
              <a:t>ТРЕБУЕТСЯ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1300" y="1994445"/>
            <a:ext cx="56007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Ожидаемый результат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4450" y="2442120"/>
            <a:ext cx="54459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Дампы трафика pcap / pcapng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2550" y="2756445"/>
            <a:ext cx="54078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Журнал внешних действий устройства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4450" y="3070770"/>
            <a:ext cx="54459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EF4444"/>
                </a:solidFill>
                <a:latin typeface="Plus Jakarta Sans"/>
              </a:rPr>
              <a:t>Полное отсутствие спецификации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9900" y="2442120"/>
            <a:ext cx="53721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Проверяемая интерпретация структуры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8950" y="2756445"/>
            <a:ext cx="53530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Строгая локализация ошибок чтения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8950" y="3070770"/>
            <a:ext cx="53530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Выявление контрпримеров на корпусе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283273"/>
            <a:ext cx="10668000" cy="790575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16398"/>
            <a:ext cx="32257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3000" y="2616398"/>
            <a:ext cx="3225849" cy="1438275"/>
          </a:xfrm>
          <a:prstGeom prst="roundRect">
            <a:avLst>
              <a:gd name="adj" fmla="val 7947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04299" y="2616398"/>
            <a:ext cx="32257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064323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283273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4283273"/>
            <a:ext cx="38100" cy="790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20475" y="4283273"/>
            <a:ext cx="9525" cy="7905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67925" y="4564260"/>
            <a:ext cx="11239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675" y="315456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825" y="3154560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162" y="2940248"/>
            <a:ext cx="333375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501" y="2940248"/>
            <a:ext cx="2667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4749" y="2940248"/>
            <a:ext cx="3048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АРХИТЕКТУРА СИСТЕМЫ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Три модуля связаны форматами, а не вызовами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125" y="3135510"/>
            <a:ext cx="552450" cy="4000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t>
</a:t>
            </a:r>
            <a:r>
              <a:rPr b="1" sz="825" i="0" u="none">
                <a:solidFill>
                  <a:srgbClr val="0F172A"/>
                </a:solidFill>
                <a:latin typeface="JetBrains Mono"/>
              </a:rPr>
              <a:t>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275" y="3135510"/>
            <a:ext cx="552598" cy="4000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/>
            <a:r>
              <a:t>
</a:t>
            </a:r>
            <a:r>
              <a:rPr b="1" sz="825" i="0" u="none">
                <a:solidFill>
                  <a:srgbClr val="0F172A"/>
                </a:solidFill>
                <a:latin typeface="JetBrains Mono"/>
              </a:rPr>
              <a:t>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3175" y="4602360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JetBrains Mono"/>
              </a:rPr>
              <a:t>LOOSE COUPLING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529" y="3340298"/>
            <a:ext cx="35086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68" y="3616523"/>
            <a:ext cx="334156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JetBrains Mono"/>
              </a:rPr>
              <a:t>pcap/pcapng → сессии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1507" y="3340298"/>
            <a:ext cx="350883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reassembly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050" y="3616523"/>
            <a:ext cx="334174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JetBrains Mono"/>
              </a:rPr>
              <a:t>правила, фрейминг, версии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2828" y="3340298"/>
            <a:ext cx="350864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Plus Jakarta Sans"/>
              </a:rP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6367" y="3616523"/>
            <a:ext cx="334156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JetBrains Mono"/>
              </a:rPr>
              <a:t>окно PySide6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" y="4483298"/>
            <a:ext cx="69987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Контракты зафиксированы JSON-схемами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" y="4702373"/>
            <a:ext cx="666545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Порядок вызовов не имеет значения. Каждая часть может тестироваться изолированно.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778621"/>
            <a:ext cx="6263580" cy="2133153"/>
          </a:xfrm>
          <a:prstGeom prst="roundRect">
            <a:avLst>
              <a:gd name="adj" fmla="val 53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90600" y="4353669"/>
            <a:ext cx="580638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254180" y="2473523"/>
            <a:ext cx="417581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254180" y="3759398"/>
            <a:ext cx="41758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54180" y="2473523"/>
            <a:ext cx="41758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54180" y="2473523"/>
            <a:ext cx="38100" cy="1295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475" y="2473523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54180" y="3921323"/>
            <a:ext cx="4175819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54180" y="5207198"/>
            <a:ext cx="41758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54180" y="3921323"/>
            <a:ext cx="41758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54180" y="3921323"/>
            <a:ext cx="38100" cy="12954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20475" y="3921323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ПРОИСХОЖДЕНИЕ ДАННЫХ (PROVENANCE)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От интерпретации — прямо к исходным байтам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007221"/>
            <a:ext cx="7257975" cy="188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85"/>
              </a:lnSpc>
            </a:pPr>
            <a:r>
              <a:rPr b="0" sz="825" i="0" u="none">
                <a:solidFill>
                  <a:srgbClr val="64748B"/>
                </a:solidFill>
                <a:latin typeface="JetBrains Mono"/>
              </a:rPr>
              <a:t>HEX DUMP · SESSION s1 · PACKET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3310086"/>
            <a:ext cx="7257975" cy="222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00000010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1" sz="975" i="0" u="none">
                <a:solidFill>
                  <a:srgbClr val="10B981"/>
                </a:solidFill>
                <a:latin typeface="JetBrains Mono"/>
              </a:rPr>
              <a:t>00 00 01 10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</a:t>
            </a:r>
            <a:r>
              <a:rPr b="1" sz="975" i="0" u="none">
                <a:solidFill>
                  <a:srgbClr val="EF4444"/>
                </a:solidFill>
                <a:latin typeface="JetBrains Mono"/>
              </a:rPr>
              <a:t>01 00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00 01 |........|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3532882"/>
            <a:ext cx="7257975" cy="222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00000020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00 01 10 01 00 00 01 11 |........|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755677"/>
            <a:ext cx="7257975" cy="222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00000030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01 10 01 00 00 01 11 01 |........|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" y="3978473"/>
            <a:ext cx="7257975" cy="2227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0" sz="975" i="0" u="none">
                <a:solidFill>
                  <a:srgbClr val="64748B"/>
                </a:solidFill>
                <a:latin typeface="JetBrains Mono"/>
              </a:rPr>
              <a:t>00000040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10 01 00 00 01 11 01 00 |........|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4467969"/>
            <a:ext cx="5901630" cy="2152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b="0" sz="900" i="0" u="none">
                <a:solidFill>
                  <a:srgbClr val="38BDF8"/>
                </a:solidFill>
                <a:latin typeface="JetBrains Mono"/>
              </a:rPr>
              <a:t>seq: 1001 · ts: 1700000000.004 · length: 32 bytes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2780" y="2702123"/>
            <a:ext cx="381386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Plus Jakarta Sans"/>
              </a:rPr>
              <a:t>OFFSET 0..3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2780" y="4149923"/>
            <a:ext cx="3813869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EF4444"/>
                </a:solidFill>
                <a:latin typeface="Plus Jakarta Sans"/>
              </a:rPr>
              <a:t>OFFSET 4..5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0880" y="2949773"/>
            <a:ext cx="46711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Заголовок и длина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0880" y="3187898"/>
            <a:ext cx="37662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Проверяемое смещение поля длины зафиксировано на offset 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0880" y="4397573"/>
            <a:ext cx="467111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Команда и флаги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0880" y="4635698"/>
            <a:ext cx="37662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Каждый байт разбора имеет точную ссылку на пакет-источник.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292798"/>
            <a:ext cx="10668000" cy="790575"/>
          </a:xfrm>
          <a:prstGeom prst="roundRect">
            <a:avLst>
              <a:gd name="adj" fmla="val 14457"/>
            </a:avLst>
          </a:prstGeom>
          <a:solidFill>
            <a:srgbClr val="0F172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606873"/>
            <a:ext cx="5238750" cy="1495425"/>
          </a:xfrm>
          <a:prstGeom prst="roundRect">
            <a:avLst>
              <a:gd name="adj" fmla="val 7643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2606873"/>
            <a:ext cx="5238750" cy="1495425"/>
          </a:xfrm>
          <a:prstGeom prst="roundRect">
            <a:avLst>
              <a:gd name="adj" fmla="val 764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0125" y="2854523"/>
            <a:ext cx="857250" cy="228600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29375" y="2854523"/>
            <a:ext cx="8572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ПРОВЕРКА ГИПОТЕЗ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Один байт — 80 контрпримеров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483298"/>
            <a:ext cx="103822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EF4444"/>
                </a:solidFill>
                <a:latin typeface="JetBrains Mono"/>
              </a:rPr>
              <a:t>offset 0: 02 00 00 03 13 00 55</a:t>
            </a:r>
            <a:r>
              <a:rPr b="0" sz="975" i="0" u="none">
                <a:solidFill>
                  <a:srgbClr val="F8FAFC"/>
                </a:solidFill>
                <a:latin typeface="JetBrains Mono"/>
              </a:rPr>
              <a:t> → </a:t>
            </a:r>
            <a:r>
              <a:rPr b="0" sz="975" i="0" u="none">
                <a:solidFill>
                  <a:srgbClr val="F59E0B"/>
                </a:solidFill>
                <a:latin typeface="JetBrains Mono"/>
              </a:rPr>
              <a:t>value 2 not in expected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730948"/>
            <a:ext cx="112299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Контрпример важнее метрики: повторение команды 2 в независимых сессиях корпуса подтвердило корректность версии v2.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2892623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JetBrains Mono"/>
              </a:rPr>
              <a:t>ПРАВИЛО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197423"/>
            <a:ext cx="6250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80 несоответствий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521273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7F1D1D"/>
                </a:solidFill>
                <a:latin typeface="Plus Jakarta Sans"/>
              </a:rPr>
              <a:t>На offset 0 в сессиях s2 и s3 получено значение команды 2, отсутствующее в базовом наборе [1].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892623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JetBrains Mono"/>
              </a:rPr>
              <a:t>ПРАВИЛО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97423"/>
            <a:ext cx="57626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Plus Jakarta Sans"/>
              </a:rPr>
              <a:t>0 контрпримеров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21273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4532D"/>
                </a:solidFill>
                <a:latin typeface="Plus Jakarta Sans"/>
              </a:rPr>
              <a:t>Учтено действие «изменить настройку» из журнала устройств. Набор команд расширен до [1, 2, 3].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78310"/>
            <a:ext cx="4895850" cy="2333625"/>
          </a:xfrm>
          <a:prstGeom prst="roundRect">
            <a:avLst>
              <a:gd name="adj" fmla="val 48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34150" y="2678310"/>
            <a:ext cx="4895850" cy="2333625"/>
          </a:xfrm>
          <a:prstGeom prst="roundRect">
            <a:avLst>
              <a:gd name="adj" fmla="val 4897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702248"/>
            <a:ext cx="2667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РЕЗУЛЬТАТЫ УТОЧНЕНИЯ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Точность разбора корпуса: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018" y="3059310"/>
            <a:ext cx="5357812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ПРАВИЛО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3168" y="3059310"/>
            <a:ext cx="5357812" cy="157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ПРАВИЛО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3383160"/>
            <a:ext cx="5143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EF4444"/>
                </a:solidFill>
                <a:latin typeface="Plus Jakarta Sans"/>
              </a:rPr>
              <a:t>0.43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4259460"/>
            <a:ext cx="514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60 matched из 140</a:t>
            </a:r>
            <a:r>
              <a:t>
</a:t>
            </a:r>
            <a:r>
              <a:rPr b="0" sz="1125" i="0" u="none">
                <a:solidFill>
                  <a:srgbClr val="64748B"/>
                </a:solidFill>
                <a:latin typeface="Plus Jakarta Sans"/>
              </a:rPr>
              <a:t> (80 контрпримеров)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3383160"/>
            <a:ext cx="514350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1.00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0325" y="4259460"/>
            <a:ext cx="5143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369A1"/>
                </a:solidFill>
                <a:latin typeface="Plus Jakarta Sans"/>
              </a:rPr>
              <a:t>140 matched из 140</a:t>
            </a:r>
            <a:r>
              <a:t>
</a:t>
            </a:r>
            <a:r>
              <a:rPr b="1" sz="1125" i="0" u="none">
                <a:solidFill>
                  <a:srgbClr val="0369A1"/>
                </a:solidFill>
                <a:latin typeface="Plus Jakarta Sans"/>
              </a:rPr>
              <a:t> (0 контрпримеров)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017216"/>
            <a:ext cx="5219700" cy="1352550"/>
          </a:xfrm>
          <a:prstGeom prst="roundRect">
            <a:avLst>
              <a:gd name="adj" fmla="val 84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41028"/>
            <a:ext cx="5219700" cy="1304925"/>
          </a:xfrm>
          <a:prstGeom prst="roundRect">
            <a:avLst>
              <a:gd name="adj" fmla="val 875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901505"/>
            <a:ext cx="106680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66350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90150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901505"/>
            <a:ext cx="38100" cy="771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0475" y="4901505"/>
            <a:ext cx="9525" cy="771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72675" y="5172967"/>
            <a:ext cx="1257300" cy="2286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4837" y="2845891"/>
            <a:ext cx="857250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2312491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336303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СБОРКА IP-ФРАГМЕНТОВ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Осколки IP собираются в одно сообщение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2636341"/>
            <a:ext cx="4762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Группировка по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id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и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protocol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 Смещение рассчитывается в блоках по 8 байт. Неполные фрагменты отбрасываются с пометкой 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2660153"/>
            <a:ext cx="4762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Группировка строго по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id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. Перекрытие диапазонов недопустимо — датаграмма сразу отклоняется ради безопасности.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7925" y="5211067"/>
            <a:ext cx="1162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JetBrains Mono"/>
              </a:rPr>
              <a:t>reassembled_from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0650" y="2293441"/>
            <a:ext cx="21444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IPv4 Фрагментация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087" y="2883991"/>
            <a:ext cx="952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B91C1C"/>
                </a:solidFill>
                <a:latin typeface="JetBrains Mono"/>
              </a:rPr>
              <a:t>incomplete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2317253"/>
            <a:ext cx="21319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IPv6 Фрагментация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" y="5101530"/>
            <a:ext cx="914899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12 тестов фрагментации пройдены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600" y="5301555"/>
            <a:ext cx="871332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Пропуск в байтах не заменяется нулями. Полнота подтверждается только после получения последнего фрагмента.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640210"/>
            <a:ext cx="3454300" cy="2409825"/>
          </a:xfrm>
          <a:prstGeom prst="roundRect">
            <a:avLst>
              <a:gd name="adj" fmla="val 4743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21100" y="2616398"/>
            <a:ext cx="3359199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0800" y="2616398"/>
            <a:ext cx="3359199" cy="1381125"/>
          </a:xfrm>
          <a:prstGeom prst="roundRect">
            <a:avLst>
              <a:gd name="adj" fmla="val 82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21100" y="4188023"/>
            <a:ext cx="6908899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27187" y="4507110"/>
            <a:ext cx="923925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НАБОР ОРГАНИЗАТОРОВ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Проверка масштабируемости на 250k пакетов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12" y="2945010"/>
            <a:ext cx="3708275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УСПЕШНЫЙ РАЗБОР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118" y="3268860"/>
            <a:ext cx="3532063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284C7"/>
                </a:solidFill>
                <a:latin typeface="Plus Jakarta Sans"/>
              </a:rPr>
              <a:t>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118" y="4249935"/>
            <a:ext cx="3532063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369A1"/>
                </a:solidFill>
                <a:latin typeface="Plus Jakarta Sans"/>
              </a:rPr>
              <a:t>45 запросов + 45 ответов</a:t>
            </a:r>
            <a:r>
              <a:t>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700" y="2844998"/>
            <a:ext cx="2997249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ОБЩЕЕ ВРЕМЯ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9400" y="2844998"/>
            <a:ext cx="2997249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ПИК ПАМЯТИ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700" y="4416623"/>
            <a:ext cx="654694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УСЛОВИЯ ТЕСТИРОВАНИЯ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9562" y="4545210"/>
            <a:ext cx="10191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5803D"/>
                </a:solidFill>
                <a:latin typeface="JetBrains Mono"/>
              </a:rPr>
              <a:t>ALL MATCHED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9225" y="3130748"/>
            <a:ext cx="360368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12 сек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9225" y="3606998"/>
            <a:ext cx="3603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На дамп 95.66 МиБ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8925" y="3130748"/>
            <a:ext cx="3603687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350 МиБ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925" y="3606998"/>
            <a:ext cx="3603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9% от лимита 4 ГиБ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9225" y="4664273"/>
            <a:ext cx="74327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Plus Jakarta Sans"/>
              </a:rPr>
              <a:t>250 000 пакетов · 1 000 сессий · 4 vCPU / 16 ГиБ 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73610"/>
            <a:ext cx="5219700" cy="1343025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83123"/>
            <a:ext cx="52197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507110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173610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173610"/>
            <a:ext cx="38100" cy="13430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72175" y="3173610"/>
            <a:ext cx="9525" cy="1343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4597598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3083123"/>
            <a:ext cx="5219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083123"/>
            <a:ext cx="38100" cy="1524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20475" y="3083123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792735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88010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702248"/>
            <a:ext cx="1428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178498"/>
            <a:ext cx="142875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334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ОГРАНИЧЕНИЯ И ГРАНИЦЫ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771525"/>
            <a:ext cx="114300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Границы исследования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497460"/>
            <a:ext cx="166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JetBrains Mono"/>
              </a:rPr>
              <a:t>ЧТО МЫ НЕ УТВЕРЖДАЕМ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406973"/>
            <a:ext cx="1916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JetBrains Mono"/>
              </a:rPr>
              <a:t>ЧТО ОСТАЛОСЬ ЗА РАМКАМИ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5875" y="3764160"/>
            <a:ext cx="55792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Plus Jakarta Sans"/>
              </a:rPr>
              <a:t>Смысл байта флагов не установлен (постоянен во всём корпусе).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5875" y="4059435"/>
            <a:ext cx="55792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Plus Jakarta Sans"/>
              </a:rPr>
              <a:t>Поле значения остаётся гипотезой, а не доказанным фактом.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4175" y="3673673"/>
            <a:ext cx="45148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Альтернативные чтения берутся исключительно из заданного набора.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4175" y="4149923"/>
            <a:ext cx="5457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Интерпретация верна для проверенных захватов и молчит вне них.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5162550"/>
            <a:ext cx="10668000" cy="108585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91725" y="5486400"/>
            <a:ext cx="1123950" cy="2286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0763250" cy="192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ИТОГИ ПРОЕКТА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62025"/>
            <a:ext cx="113014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300" i="0" u="none">
                <a:solidFill>
                  <a:srgbClr val="F8FAFC"/>
                </a:solidFill>
                <a:latin typeface="Plus Jakarta Sans"/>
              </a:rPr>
              <a:t>Инструмент превращает байты в проверяемое знание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82105"/>
            <a:ext cx="619125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Решение готово к проверке, содержит полный набор автотестов и упаковано в Docker.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5476875"/>
            <a:ext cx="6131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JetBrains Mono"/>
              </a:rPr>
              <a:t>РЕПОЗИТОРИЙ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5667375"/>
            <a:ext cx="6131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github.com/Pavel1778/madrigal-protocol-lab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91725" y="5524500"/>
            <a:ext cx="1028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900" i="0" u="none">
                <a:solidFill>
                  <a:srgbClr val="15803D"/>
                </a:solidFill>
                <a:latin typeface="JetBrains Mono"/>
              </a:rPr>
              <a:t>RELEASE v1.0.0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956" y="5772150"/>
            <a:ext cx="6131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75" i="0" u="none">
                <a:solidFill>
                  <a:srgbClr val="94A3B8"/>
                </a:solidFill>
                <a:latin typeface="JetBrains Mono"/>
              </a:rPr>
              <a:t>@Pasha1778 · @petruan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