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mbeddedFontLst>
    <p:embeddedFont>
      <p:font typeface="Tektur"/>
      <p:regular r:id="rId27" fontKey="{27E04CAF-4F9E-C315-3E78-7ADC5AE0D597}"/>
      <p:bold r:id="rId28" fontKey="{A12660F0-7690-25AC-9BE9-6509C0A8B2A5}"/>
    </p:embeddedFont>
    <p:embeddedFont>
      <p:font typeface="Montserrat"/>
      <p:regular r:id="rId29" fontKey="{3547397D-CEC3-B89A-5FB5-020C9CB6E4DD}"/>
      <p:bold r:id="rId30" fontKey="{0CB8D5B1-66EF-C706-0E19-6341EC3D8E46}"/>
    </p:embeddedFont>
    <p:embeddedFont>
      <p:font typeface="JetBrains Mono"/>
      <p:regular r:id="rId31" fontKey="{C6EB8399-2A56-D694-A331-105094B34A55}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font" Target="fonts/font1.fntdata"/><Relationship Id="rId28" Type="http://schemas.openxmlformats.org/officeDocument/2006/relationships/font" Target="fonts/font2.fntdata"/><Relationship Id="rId29" Type="http://schemas.openxmlformats.org/officeDocument/2006/relationships/font" Target="fonts/font3.fntdata"/><Relationship Id="rId30" Type="http://schemas.openxmlformats.org/officeDocument/2006/relationships/font" Target="fonts/font4.fntdata"/><Relationship Id="rId31" Type="http://schemas.openxmlformats.org/officeDocument/2006/relationships/font" Target="fonts/font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Приветствие, 20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человека, разделение ролей, QR на контакт у каждого.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QR ведут на репозиторий, релиз и контакты.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hyperlink" Target="https://github.com/Pavel1778/madrigal-protocol-lab" TargetMode="Externa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1207008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JetBrains Mono"/>
              </a:rPr>
              <a:t>MADRIGAL-PROTOCOL-LAB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4577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600" b="1">
                <a:solidFill>
                  <a:srgbClr val="F4F1EC"/>
                </a:solidFill>
                <a:latin typeface="Tektur"/>
              </a:rPr>
              <a:t>Лаборатория протоколов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>
                <a:solidFill>
                  <a:srgbClr val="F4F1EC"/>
                </a:solidFill>
                <a:latin typeface="Montserrat"/>
              </a:rPr>
              <a:t>Восстановление недокументированного бинарного протокола поверх 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43400"/>
            <a:ext cx="2194560" cy="64008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61772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A8A29E"/>
                </a:solidFill>
                <a:latin typeface="JetBrains Mono"/>
              </a:rPr>
              <a:t>UMIRHack 2026 · кейс #02 · Мадригал · команда HTTP 418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Нас двое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44287" cy="24688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vatar_pavel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57400"/>
            <a:ext cx="164592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71800" y="2148840"/>
            <a:ext cx="175244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1">
                <a:solidFill>
                  <a:srgbClr val="F4F1EC"/>
                </a:solidFill>
                <a:latin typeface="Tektur"/>
              </a:rPr>
              <a:t>Сабадаш Павел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697480"/>
            <a:ext cx="17524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Архитектура · захват · 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3154680"/>
            <a:ext cx="17524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D0603A"/>
                </a:solidFill>
                <a:latin typeface="JetBrains Mono"/>
              </a:rPr>
              <a:t>@Pasha1778</a:t>
            </a:r>
          </a:p>
        </p:txBody>
      </p:sp>
      <p:pic>
        <p:nvPicPr>
          <p:cNvPr id="10" name="Picture 9" descr="qr_telegram_pas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687" y="2148840"/>
            <a:ext cx="758952" cy="75895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24447" y="1691640"/>
            <a:ext cx="5044287" cy="24688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vatar_nikita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7" y="2057400"/>
            <a:ext cx="1645920" cy="1645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73287" y="2148840"/>
            <a:ext cx="175244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1">
                <a:solidFill>
                  <a:srgbClr val="F4F1EC"/>
                </a:solidFill>
                <a:latin typeface="Tektur"/>
              </a:rPr>
              <a:t>Предков Никита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3287" y="2697480"/>
            <a:ext cx="17524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Правила · тесты · ревью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3287" y="3154680"/>
            <a:ext cx="17524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D0603A"/>
                </a:solidFill>
                <a:latin typeface="JetBrains Mono"/>
              </a:rPr>
              <a:t>@petruan</a:t>
            </a:r>
          </a:p>
        </p:txBody>
      </p:sp>
      <p:pic>
        <p:nvPicPr>
          <p:cNvPr id="16" name="Picture 15" descr="qr_telegram_nik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7175" y="2148840"/>
            <a:ext cx="758952" cy="7589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2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D0603A"/>
                </a:solidFill>
                <a:latin typeface="Montserrat"/>
              </a:rPr>
              <a:t>ПОСТАНОВКА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577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>
                <a:solidFill>
                  <a:srgbClr val="F4F1EC"/>
                </a:solidFill>
                <a:latin typeface="Tektur"/>
              </a:rPr>
              <a:t>TCP разрезает сообщения посередине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A8A29E"/>
                </a:solidFill>
                <a:latin typeface="Montserrat"/>
              </a:rPr>
              <a:t>Границы пакета и границы сообщения — разные вещи</a:t>
            </a:r>
          </a:p>
        </p:txBody>
      </p:sp>
      <p:pic>
        <p:nvPicPr>
          <p:cNvPr id="7" name="Picture 6" descr="tcp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00400"/>
            <a:ext cx="6539127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3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Дано и требуется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44287" cy="32918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45720" cy="32918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965960"/>
            <a:ext cx="440420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D0603A"/>
                </a:solidFill>
                <a:latin typeface="Montserrat"/>
              </a:rPr>
              <a:t>ДАНО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6888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Захваты </a:t>
            </a:r>
            <a:r>
              <a:rPr sz="1500">
                <a:solidFill>
                  <a:srgbClr val="D0603A"/>
                </a:solidFill>
                <a:latin typeface="JetBrains Mono"/>
              </a:rPr>
              <a:t>pcap</a:t>
            </a:r>
            <a:r>
              <a:rPr sz="1700" b="0">
                <a:solidFill>
                  <a:srgbClr val="F4F1EC"/>
                </a:solidFill>
                <a:latin typeface="Montserrat"/>
              </a:rPr>
              <a:t>/</a:t>
            </a:r>
            <a:r>
              <a:rPr sz="1500">
                <a:solidFill>
                  <a:srgbClr val="D0603A"/>
                </a:solidFill>
                <a:latin typeface="JetBrains Mono"/>
              </a:rPr>
              <a:t>pcapng</a:t>
            </a:r>
            <a:r>
              <a:rPr sz="1700" b="0">
                <a:solidFill>
                  <a:srgbClr val="F4F1EC"/>
                </a:solidFill>
                <a:latin typeface="Montserrat"/>
              </a:rPr>
              <a:t> и журнал действий устройства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9184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Спецификации протокола нет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1691640"/>
            <a:ext cx="5044287" cy="32918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24447" y="1691640"/>
            <a:ext cx="45720" cy="32918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4487" y="1965960"/>
            <a:ext cx="440420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D0603A"/>
                </a:solidFill>
                <a:latin typeface="Montserrat"/>
              </a:rPr>
              <a:t>ТРЕБУЕТСЯ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246888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Проверяемая интерпретация структуры сообщений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487" y="329184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Видно, где чтение верно, а где перестаёт работать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4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1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1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D0603A"/>
                </a:solidFill>
                <a:latin typeface="Montserrat"/>
              </a:rPr>
              <a:t>ХОД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>
                <a:solidFill>
                  <a:srgbClr val="F4F1EC"/>
                </a:solidFill>
                <a:latin typeface="Tektur"/>
              </a:rPr>
              <a:t>Смещение поля длины оказалось на четыре байта позже, чем мы считали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A8A29E"/>
                </a:solidFill>
                <a:latin typeface="Montserrat"/>
              </a:rPr>
              <a:t>Одно правило, два чтения: поле длины остаётся на offset 2</a:t>
            </a:r>
          </a:p>
        </p:txBody>
      </p:sp>
      <p:pic>
        <p:nvPicPr>
          <p:cNvPr id="7" name="Picture 6" descr="length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43200"/>
            <a:ext cx="5264209" cy="20116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наблюдение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3449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3449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гипотеза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938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3938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проверка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4427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64427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контрпример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44916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44916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уточнение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25405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25405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JetBrains Mono"/>
              </a:rPr>
              <a:t>повторная проверка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5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Три модуля связаны форматами, а не вызовами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516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516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pcap/pcapng → сессии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reassembly, provenance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5567" y="27432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D0603A"/>
                </a:solidFill>
                <a:latin typeface="JetBrains Mono"/>
              </a:rPr>
              <a:t>JSON 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564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9564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424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protocol + hypothesis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424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правила, фрейминг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контрпримеры, версии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27432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D0603A"/>
                </a:solidFill>
                <a:latin typeface="JetBrains Mono"/>
              </a:rPr>
              <a:t>JSON 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612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3612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472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472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окно PySide6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исследование и просмотр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A8A29E"/>
                </a:solidFill>
                <a:latin typeface="Montserrat"/>
              </a:rPr>
              <a:t>Контракты между модулями зафиксированы схемами JSON; порядок вызовов не важен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6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1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7" dur="500" fill="hold"/>
                            <p:tgtEl>
                              <p:spTgt spid="1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От интерпретации можно вернуться к исходным данным</a:t>
            </a:r>
          </a:p>
        </p:txBody>
      </p:sp>
      <p:pic>
        <p:nvPicPr>
          <p:cNvPr id="5" name="Picture 4" descr="screenshot-prov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766560" cy="27519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16916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691640"/>
            <a:ext cx="45720" cy="12344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92024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packet 3 · seq 1001 · ts 1700000000.004 · сессия s1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7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Правило проверяется на всём корпусе сразу</a:t>
            </a:r>
          </a:p>
        </p:txBody>
      </p:sp>
      <p:pic>
        <p:nvPicPr>
          <p:cNvPr id="5" name="Picture 4" descr="screenshot-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044287" cy="1745050"/>
          </a:xfrm>
          <a:prstGeom prst="rect">
            <a:avLst/>
          </a:prstGeom>
        </p:spPr>
      </p:pic>
      <p:pic>
        <p:nvPicPr>
          <p:cNvPr id="6" name="Picture 5" descr="screenshot-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691640"/>
            <a:ext cx="5044287" cy="2668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8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Контрпример важнее метрики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4577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D0603A"/>
                </a:solidFill>
                <a:latin typeface="Montserrat"/>
              </a:rPr>
              <a:t>4 НЕЗАВИСИМЫЕ СЕССИИ В КОРПУСЕ + ЖУРНАЛ ДЕЙСТВИЙ УСТРОЙСТВА</a:t>
            </a:r>
          </a:p>
        </p:txBody>
      </p:sp>
      <p:pic>
        <p:nvPicPr>
          <p:cNvPr id="6" name="Picture 5" descr="screenshot-counter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766560" cy="28520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46720" y="16916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1691640"/>
            <a:ext cx="45720" cy="12344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92024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02 00 00 03 13 00 55  —  команда 2 вне ожидаемого набора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30632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3227832"/>
            <a:ext cx="28648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D0603A"/>
                </a:solidFill>
                <a:latin typeface="Montserrat"/>
              </a:rPr>
              <a:t>ОДИН БАЙТ — 80 КОНТРПРИМЕРОВ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56616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80 несоответствий v1 — на offset 0 в сессиях s2 и s3.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A8A29E"/>
                </a:solidFill>
                <a:latin typeface="Montserrat"/>
              </a:rPr>
              <a:t>Значение 2 повторяется в 4 независимых сессиях корпуса и связано с действием «изменить настройку»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9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>
                <a:solidFill>
                  <a:srgbClr val="D0603A"/>
                </a:solidFill>
                <a:latin typeface="Tektu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Что получилось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206240"/>
            <a:ext cx="3108960" cy="82296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A8A29E"/>
                </a:solidFill>
                <a:latin typeface="Montserrat"/>
              </a:rPr>
              <a:t>Точность, покрытие корпуса организаторов, ресурсы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10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Уточнили правило: 60 из 140 → 140 из 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На корпусе уточнения. Отдельно проверено на реальном датасете: 45 + 45, precision 1.00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F4F1EC"/>
                </a:solidFill>
                <a:latin typeface="Montserrat"/>
              </a:rPr>
              <a:t>Было 60 matched из 140 и 80 контрпримеров. Стало 140 matched из 140 и ноль контрпримеров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914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0">
                <a:solidFill>
                  <a:srgbClr val="A8A29E"/>
                </a:solidFill>
                <a:latin typeface="JetBrains Mono"/>
              </a:rPr>
              <a:t>v1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2834640"/>
            <a:ext cx="7436815" cy="54864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0" y="2834640"/>
            <a:ext cx="3197830" cy="5486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57055" y="278892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000" b="1">
                <a:solidFill>
                  <a:srgbClr val="F4F1EC"/>
                </a:solidFill>
                <a:latin typeface="Tektur"/>
              </a:rPr>
              <a:t>0.43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40"/>
            <a:ext cx="914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0">
                <a:solidFill>
                  <a:srgbClr val="A8A29E"/>
                </a:solidFill>
                <a:latin typeface="JetBrains Mono"/>
              </a:rPr>
              <a:t>v2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4023360"/>
            <a:ext cx="7436815" cy="54864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0" y="4023360"/>
            <a:ext cx="7436815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7055" y="39776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000" b="1">
                <a:solidFill>
                  <a:srgbClr val="F4F1EC"/>
                </a:solidFill>
                <a:latin typeface="Tektur"/>
              </a:rPr>
              <a:t>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11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7" dur="500" fill="hold"/>
                            <p:tgtEl>
                              <p:spTgt spid="1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0" dur="500" fill="hold"/>
                            <p:tgtEl>
                              <p:spTgt spid="1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3" dur="500" fill="hold"/>
                            <p:tgtEl>
                              <p:spTgt spid="1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Набор организаторов разобран целиком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0" b="1">
                <a:solidFill>
                  <a:srgbClr val="D0603A"/>
                </a:solidFill>
                <a:latin typeface="Tektur"/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F4F1EC"/>
                </a:solidFill>
                <a:latin typeface="Montserrat"/>
              </a:rPr>
              <a:t>45 запросов + 45 ответов. Все matched.</a:t>
            </a:r>
          </a:p>
        </p:txBody>
      </p:sp>
      <p:pic>
        <p:nvPicPr>
          <p:cNvPr id="7" name="Picture 6" descr="coverag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011680"/>
            <a:ext cx="4772264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A8A29E"/>
                </a:solidFill>
                <a:latin typeface="Montserrat"/>
              </a:rPr>
              <a:t>Данные не использовались при уточнении правила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12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22" presetClass="entr" presetSubtype="8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700" fill="hold"/>
                            <p:tgtEl>
                              <p:spTgt spid="7"/>
                            </p:tgtEl>
                            <p:attrNameLst>
                              <p:attrName>ppt_w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95 МиБ разбираются за 12 секунд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800" b="1">
                <a:solidFill>
                  <a:srgbClr val="D0603A"/>
                </a:solidFill>
                <a:latin typeface="Tektur"/>
              </a:rPr>
              <a:t>12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F4F1EC"/>
                </a:solidFill>
                <a:latin typeface="Montserrat"/>
              </a:rPr>
              <a:t>Пик памяти 350 МиБ — около 9% бюджета 4 ГиБ</a:t>
            </a:r>
          </a:p>
        </p:txBody>
      </p:sp>
      <p:pic>
        <p:nvPicPr>
          <p:cNvPr id="7" name="Picture 6" descr="memory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011680"/>
            <a:ext cx="4604892" cy="36576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5349240"/>
            <a:ext cx="1444752" cy="365760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14447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4F1EC"/>
                </a:solidFill>
                <a:latin typeface="Montserrat"/>
              </a:rPr>
              <a:t>12 с общее время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6312" y="5349240"/>
            <a:ext cx="1600200" cy="365760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96312" y="5394960"/>
            <a:ext cx="1600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4F1EC"/>
                </a:solidFill>
                <a:latin typeface="Montserrat"/>
              </a:rPr>
              <a:t>350 МиБ пик памяти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5349240"/>
            <a:ext cx="1133856" cy="365760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2" y="5394960"/>
            <a:ext cx="11338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F4F1EC"/>
                </a:solidFill>
                <a:latin typeface="Montserrat"/>
              </a:rPr>
              <a:t>250k пакетов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A8A29E"/>
                </a:solidFill>
                <a:latin typeface="Montserrat"/>
              </a:rPr>
              <a:t>Условия замера: 95.66 МиБ, 250 000 пакетов, 1000 сессий, 4 vCPU / 16 ГиБ. Бюджет памяти — 4 ГиБ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13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22" presetClass="entr" presetSubtype="8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700" fill="hold"/>
                            <p:tgtEl>
                              <p:spTgt spid="7"/>
                            </p:tgtEl>
                            <p:attrNameLst>
                              <p:attrName>ppt_w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7" dur="500" fill="hold"/>
                            <p:tgtEl>
                              <p:spTgt spid="1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>
                <a:solidFill>
                  <a:srgbClr val="D0603A"/>
                </a:solidFill>
                <a:latin typeface="Tektu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Демонстрация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206240"/>
            <a:ext cx="3108960" cy="82296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A8A29E"/>
                </a:solidFill>
                <a:latin typeface="Montserrat"/>
              </a:rPr>
              <a:t>Живое окно и запись прогона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14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Живое окно</a:t>
            </a:r>
          </a:p>
        </p:txBody>
      </p:sp>
      <p:pic>
        <p:nvPicPr>
          <p:cNvPr id="5" name="Picture 4" descr="screenshot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10545775" cy="2708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A8A29E"/>
                </a:solidFill>
                <a:latin typeface="Montserrat"/>
              </a:rPr>
              <a:t>Сессии, байты, интерпретация, происхождение и диагностика в одном окне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15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Резерв: запись прогона</a:t>
            </a:r>
          </a:p>
        </p:txBody>
      </p:sp>
      <p:pic>
        <p:nvPicPr>
          <p:cNvPr id="5" name="Picture 4" descr="screencast-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852160" cy="329184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3182112" y="2770632"/>
            <a:ext cx="1133856" cy="1133856"/>
          </a:xfrm>
          <a:prstGeom prst="ellipse">
            <a:avLst/>
          </a:prstGeom>
          <a:noFill/>
          <a:ln w="38100">
            <a:solidFill>
              <a:srgbClr val="D06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602736" y="3118104"/>
            <a:ext cx="457200" cy="438912"/>
          </a:xfrm>
          <a:prstGeom prst="triangle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JetBrains Mono"/>
              </a:rPr>
              <a:t>Полный прогон референсного исследования · 2:22 · без звука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A8A29E"/>
                </a:solidFill>
                <a:latin typeface="Montserrat"/>
              </a:rPr>
              <a:t>Играется, если живое окно не поднимется на защите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16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7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>
                <a:solidFill>
                  <a:srgbClr val="D0603A"/>
                </a:solidFill>
                <a:latin typeface="Tektu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Границы и итог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206240"/>
            <a:ext cx="3108960" cy="82296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A8A29E"/>
                </a:solidFill>
                <a:latin typeface="Montserrat"/>
              </a:rPr>
              <a:t>Что мы не утверждаем и что осталось за рамками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Границы и итог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17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push="1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Что мы не утверждаем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Смысл байта флагов не установлен: в корпусе он постоянен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Поле значения остаётся гипотезой, а не фактом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8745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Альтернативные чтения берутся из заданного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27889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Интерпретация верна для проверенных захватов и молчит вне них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Границы и итог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18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4F1EC"/>
                </a:solidFill>
                <a:latin typeface="Tektur"/>
              </a:rPr>
              <a:t>Инструмент превращает байты в проверяемое знание</a:t>
            </a:r>
          </a:p>
        </p:txBody>
      </p:sp>
      <p:pic>
        <p:nvPicPr>
          <p:cNvPr id="5" name="Picture 4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207" y="283464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388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8A29E"/>
                </a:solidFill>
                <a:latin typeface="Montserrat"/>
              </a:rPr>
              <a:t>Репозиторий</a:t>
            </a:r>
          </a:p>
        </p:txBody>
      </p:sp>
      <p:pic>
        <p:nvPicPr>
          <p:cNvPr id="7" name="Picture 6" descr="qr_rel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767" y="283464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3844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8A29E"/>
                </a:solidFill>
                <a:latin typeface="Montserrat"/>
              </a:rPr>
              <a:t>Релиз v1.0.0</a:t>
            </a:r>
          </a:p>
        </p:txBody>
      </p:sp>
      <p:pic>
        <p:nvPicPr>
          <p:cNvPr id="9" name="Picture 8" descr="qr_telegram_pash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7" y="2834640"/>
            <a:ext cx="1371600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300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8A29E"/>
                </a:solidFill>
                <a:latin typeface="Montserrat"/>
              </a:rPr>
              <a:t>@Pasha1778</a:t>
            </a:r>
          </a:p>
        </p:txBody>
      </p:sp>
      <p:pic>
        <p:nvPicPr>
          <p:cNvPr id="11" name="Picture 10" descr="qr_telegram_nik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887" y="2834640"/>
            <a:ext cx="1371600" cy="1371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2756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A8A29E"/>
                </a:solidFill>
                <a:latin typeface="Montserrat"/>
              </a:rPr>
              <a:t>@petruan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>
                <a:solidFill>
                  <a:srgbClr val="A8A29E"/>
                </a:solidFill>
                <a:latin typeface="JetBrains Mono"/>
                <a:hlinkClick r:id="rId6"/>
              </a:rPr>
              <a:t>github.com/Pavel1778/madrigal-protocol-lab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500" fill="hold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5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5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4" dur="5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7" dur="5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0" dur="5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3" dur="5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6" dur="5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29" dur="500" fill="hold"/>
                            <p:tgtEl>
                              <p:spTgt spid="1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