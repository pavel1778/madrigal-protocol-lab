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mbeddedFontLst>
    <p:embeddedFont>
      <p:font typeface="Tektur"/>
      <p:regular r:id="rId22" fontKey="{27E04CAF-4F9E-C315-3E78-7ADC5AE0D597}"/>
      <p:bold r:id="rId23" fontKey="{A12660F0-7690-25AC-9BE9-6509C0A8B2A5}"/>
    </p:embeddedFont>
    <p:embeddedFont>
      <p:font typeface="Montserrat"/>
      <p:regular r:id="rId24" fontKey="{3547397D-CEC3-B89A-5FB5-020C9CB6E4DD}"/>
      <p:bold r:id="rId25" fontKey="{0CB8D5B1-66EF-C706-0E19-6341EC3D8E46}"/>
    </p:embeddedFont>
    <p:embeddedFont>
      <p:font typeface="JetBrains Mono"/>
      <p:regular r:id="rId26" fontKey="{C6EB8399-2A56-D694-A331-105094B34A55}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Приветствие, 20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человека, разделение ролей, QR на контакт у каждого.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 задачи и наша первая гипотеза о смещении поля длины.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ведут на репозиторий, релиз и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hyperlink" Target="https://github.com/Pavel1778/madrigal-protocol-lab" TargetMode="External"/><Relationship Id="rId7" Type="http://schemas.openxmlformats.org/officeDocument/2006/relationships/image" Target="../media/image2.png"/><Relationship Id="rId8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207008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JetBrains Mono"/>
              </a:rPr>
              <a:t>MADRIGAL-PROTOCOL-LAB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1295" y="969264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A8A29E"/>
                </a:solidFill>
                <a:latin typeface="JetBrains Mono"/>
              </a:rPr>
              <a:t>КЕЙС ЗАКАЗЧИКА</a:t>
            </a:r>
          </a:p>
        </p:txBody>
      </p:sp>
      <p:pic>
        <p:nvPicPr>
          <p:cNvPr id="7" name="Picture 6" descr="madrig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295" y="1298448"/>
            <a:ext cx="2377440" cy="576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991295" y="1975104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JetBrains Mono"/>
              </a:rPr>
              <a:t>кейс #02 · UMIRHack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4577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600" b="1">
                <a:solidFill>
                  <a:srgbClr val="F4F1EC"/>
                </a:solidFill>
                <a:latin typeface="Tektur"/>
              </a:rPr>
              <a:t>Лаборатория протоколов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F4F1EC"/>
                </a:solidFill>
                <a:latin typeface="Montserrat"/>
              </a:rPr>
              <a:t>Восстановление недокументированного бинарного протокола поверх TCP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43400"/>
            <a:ext cx="2194560" cy="64008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JetBrains Mono"/>
              </a:rPr>
              <a:t>UMIRHack 2026 · кейс #02 · Мадригал · команда HTTP 418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D0603A"/>
                </a:solidFill>
                <a:latin typeface="JetBrains Mono"/>
              </a:rPr>
              <a:t>Python 3.12 · PySide6 · dpkt · pytest · Docker</a:t>
            </a:r>
          </a:p>
        </p:txBody>
      </p:sp>
    </p:spTree>
  </p:cSld>
  <p:clrMapOvr>
    <a:masterClrMapping/>
  </p:clrMapOvr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Нас двое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22402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vatar_pavel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6596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1800" y="2057400"/>
            <a:ext cx="230108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Сабадаш Павел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606040"/>
            <a:ext cx="230108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3017520"/>
            <a:ext cx="230108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@Pasha1778</a:t>
            </a:r>
          </a:p>
        </p:txBody>
      </p:sp>
      <p:pic>
        <p:nvPicPr>
          <p:cNvPr id="10" name="Picture 9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3976" y="2057400"/>
            <a:ext cx="758952" cy="75895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24447" y="1691640"/>
            <a:ext cx="5044287" cy="22402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vatar_nikita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7" y="1965960"/>
            <a:ext cx="164592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3287" y="2057400"/>
            <a:ext cx="230108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Предков Никита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3287" y="2606040"/>
            <a:ext cx="230108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3017520"/>
            <a:ext cx="230108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@petruan</a:t>
            </a:r>
          </a:p>
        </p:txBody>
      </p:sp>
      <p:pic>
        <p:nvPicPr>
          <p:cNvPr id="16" name="Picture 15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5464" y="2057400"/>
            <a:ext cx="758952" cy="7589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2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4F1EC"/>
                </a:solidFill>
                <a:latin typeface="Tektur"/>
              </a:rPr>
              <a:t>TCP разрезает сообщения посередине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A8A29E"/>
                </a:solidFill>
                <a:latin typeface="Montserrat"/>
              </a:rPr>
              <a:t>Границы пакета и границы сообщения — разные вещи</a:t>
            </a:r>
          </a:p>
        </p:txBody>
      </p:sp>
      <p:pic>
        <p:nvPicPr>
          <p:cNvPr id="7" name="Picture 6" descr="tcp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653912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3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F4F1EC"/>
                </a:solidFill>
                <a:latin typeface="Tektur"/>
              </a:rPr>
              <a:t>Дано и требуется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160020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45720" cy="160020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56232"/>
            <a:ext cx="449564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219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Захваты </a:t>
            </a:r>
            <a:r>
              <a:rPr sz="1300">
                <a:solidFill>
                  <a:srgbClr val="D0603A"/>
                </a:solidFill>
                <a:latin typeface="JetBrains Mono"/>
              </a:rPr>
              <a:t>pcap</a:t>
            </a:r>
            <a:r>
              <a:rPr sz="1500" b="0">
                <a:solidFill>
                  <a:srgbClr val="F4F1EC"/>
                </a:solidFill>
                <a:latin typeface="Montserrat"/>
              </a:rPr>
              <a:t>/</a:t>
            </a:r>
            <a:r>
              <a:rPr sz="1300">
                <a:solidFill>
                  <a:srgbClr val="D0603A"/>
                </a:solidFill>
                <a:latin typeface="JetBrains Mono"/>
              </a:rPr>
              <a:t>pcapng</a:t>
            </a:r>
            <a:r>
              <a:rPr sz="1500" b="0">
                <a:solidFill>
                  <a:srgbClr val="F4F1EC"/>
                </a:solidFill>
                <a:latin typeface="Montserrat"/>
              </a:rPr>
              <a:t> и журнал действий устройства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791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Спецификации протокола нет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691640"/>
            <a:ext cx="5044287" cy="160020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691640"/>
            <a:ext cx="45720" cy="160020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1856232"/>
            <a:ext cx="449564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ТРЕБУЕТСЯ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22219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Проверяемая интерпретация структуры сообщений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679192"/>
            <a:ext cx="44956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•  Видно, где чтение верно, а где перестаёт работать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4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Смещение поля длины оказалось на четыре байта позже, чем мы считали: одно правило, два чтения, поле длины остаётся на offset 2.</a:t>
            </a:r>
          </a:p>
        </p:txBody>
      </p:sp>
      <p:pic>
        <p:nvPicPr>
          <p:cNvPr id="16" name="Picture 15" descr="length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06240"/>
            <a:ext cx="3349951" cy="12801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4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Три модуля связаны форматами, а не вызовами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516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516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pcap/pcapng → сессии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reassembly,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56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564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564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424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protocol + 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правила, фрейминг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контрпримеры, версии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612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12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472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72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окно PySide6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исследование и 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Контракты между модулями зафиксированы схемами JSON; порядок вызовов не важен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5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От интерпретации можно вернуться к исходным данным</a:t>
            </a:r>
          </a:p>
        </p:txBody>
      </p:sp>
      <p:pic>
        <p:nvPicPr>
          <p:cNvPr id="5" name="Picture 4" descr="screenshot-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7519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packet 3 · seq 1001 · ts 1700000000.004 · сессия 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6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Правило проверяется на всём корпусе сразу</a:t>
            </a:r>
          </a:p>
        </p:txBody>
      </p:sp>
      <p:pic>
        <p:nvPicPr>
          <p:cNvPr id="5" name="Picture 4" descr="screenshot-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044287" cy="1745050"/>
          </a:xfrm>
          <a:prstGeom prst="rect">
            <a:avLst/>
          </a:prstGeom>
        </p:spPr>
      </p:pic>
      <p:pic>
        <p:nvPicPr>
          <p:cNvPr id="6" name="Picture 5" descr="screenshot-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691640"/>
            <a:ext cx="5044287" cy="2668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7 / 14</a:t>
            </a:r>
          </a:p>
        </p:txBody>
      </p:sp>
    </p:spTree>
  </p:cSld>
  <p:clrMapOvr>
    <a:masterClrMapping/>
  </p:clrMapOvr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Контрпример важнее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4 НЕЗАВИСИМЫЕ СЕССИИ В КОРПУСЕ + ЖУРНАЛ ДЕЙСТВИЙ УСТРОЙСТВА</a:t>
            </a:r>
          </a:p>
        </p:txBody>
      </p:sp>
      <p:pic>
        <p:nvPicPr>
          <p:cNvPr id="6" name="Picture 5" descr="screenshot-counter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8520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02 00 00 03 13 00 55  —  команда 2 вне ожидаемого набора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0632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227832"/>
            <a:ext cx="28648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ОДИН БАЙТ — 80 КОНТРПРИМЕРОВ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56616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80 несоответствий v1 — на offset 0 в сессиях s2 и s3.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Значение 2 повторяется в независимых сессиях корпуса и связано с действием «изменить настройку»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8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Что получилось: 60 из 140 → 140 из 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На корпусе уточнения. Отдельно проверено на реальном датасете: 45 + 45, precision 1.00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Было 60 matched из 140 и 80 контрпримеров. Стало 140 matched из 140 и ноль контрпримеров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83464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2834640"/>
            <a:ext cx="3197830" cy="5486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57055" y="278892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0.43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4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7055" y="3977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9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Осколки IP собираются в одно сообщение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IPv4 и IPv6 по своим правилам. Сессия знает, из каких пакетов собрана: статус reassembled_from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783080"/>
            <a:ext cx="5394960" cy="118872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IPv4 группирует по id и protocol, offset в единицах по 8 байт; неполный фрагмент не собирается.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5394960" cy="118872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F4F1EC"/>
                </a:solidFill>
                <a:latin typeface="Montserrat"/>
              </a:rPr>
              <a:t>IPv6 группирует по id; перекрытие не допускается — датаграмма отбрасывается.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194560"/>
            <a:ext cx="52422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0603A"/>
                </a:solidFill>
                <a:latin typeface="JetBrains Mono"/>
              </a:rPr>
              <a:t>01 00 00 03 13 00 55 …  ▸ ▸ ▸ ▸ ▸ ▸ 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455164" cy="384048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245516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4F1EC"/>
                </a:solidFill>
                <a:latin typeface="Montserrat"/>
              </a:rPr>
              <a:t>IPv4 id + protocol, offset ×8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9292" y="4892040"/>
            <a:ext cx="2455164" cy="384048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9292" y="4937760"/>
            <a:ext cx="245516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4F1EC"/>
                </a:solidFill>
                <a:latin typeface="Montserrat"/>
              </a:rPr>
              <a:t>IPv6 id, перекрытие отклонено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4892040"/>
            <a:ext cx="1911096" cy="384048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4937760"/>
            <a:ext cx="1911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F4F1EC"/>
                </a:solidFill>
                <a:latin typeface="Montserrat"/>
              </a:rPr>
              <a:t>12 тестов фрагментации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3212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Дырка — это incomplete, а не ноль: байты не угадываются, пока не покрыт каждый байт до конца и не увиден последний фрагмент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10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Набор организаторов разобран целиком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0" b="1">
                <a:solidFill>
                  <a:srgbClr val="D0603A"/>
                </a:solidFill>
                <a:latin typeface="Tektur"/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45 запросов + 45 ответов. Все matched.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Montserrat"/>
              </a:rPr>
              <a:t>12 с на 95 МиБ — пик памяти 350 МиБ, 9% бюджета 4 ГиБ</a:t>
            </a:r>
          </a:p>
        </p:txBody>
      </p:sp>
      <p:pic>
        <p:nvPicPr>
          <p:cNvPr id="8" name="Picture 7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4772264" cy="3657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4937760"/>
            <a:ext cx="1444752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1EC"/>
                </a:solidFill>
                <a:latin typeface="Montserrat"/>
              </a:rPr>
              <a:t>12 с общее время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6312" y="4937760"/>
            <a:ext cx="1600200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96312" y="4983480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1EC"/>
                </a:solidFill>
                <a:latin typeface="Montserrat"/>
              </a:rPr>
              <a:t>350 МиБ пик памяти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4937760"/>
            <a:ext cx="1133856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4983480"/>
            <a:ext cx="1133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1EC"/>
                </a:solidFill>
                <a:latin typeface="Montserrat"/>
              </a:rPr>
              <a:t>250k пакетов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Данные не использовались при уточнении правила; условия замера: 95.66 МиБ, 250 000 пакетов, 1000 сессий, 4 vCPU / 16 ГиБ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11 /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400" fill="hold"/>
                            <p:tgtEl>
                              <p:spTgt spid="8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Демонстрация: живое окно и запись прогона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45775" cy="2708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Сессии, байты, интерпретация, происхождение и диагностика в одном окне. Резерв — запись полного прогона, 2:22, без звука; играется, если живое окно не поднимется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12 / 14</a:t>
            </a:r>
          </a:p>
        </p:txBody>
      </p:sp>
    </p:spTree>
  </p:cSld>
  <p:clrMapOvr>
    <a:masterClrMapping/>
  </p:clrMapOvr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Границы и итог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50442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ЧТО МЫ НЕ УТВЕРЖДАЕМ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Смысл байта флагов не установлен: в корпусе он постоянен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Поле значения остаётся гипотезой, а не фактом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691640"/>
            <a:ext cx="50442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ЧТО ОСТАЛОСЬ ЗА РАМКАМИ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21945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Альтернативные чтения берутся из заданного набора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7" y="310896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Интерпретация верна для проверенных захватов и молчит вне них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13 / 14</a:t>
            </a:r>
          </a:p>
        </p:txBody>
      </p:sp>
    </p:spTree>
  </p:cSld>
  <p:clrMapOvr>
    <a:masterClrMapping/>
  </p:clrMapOvr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4F1EC"/>
                </a:solidFill>
                <a:latin typeface="Tektur"/>
              </a:rPr>
              <a:t>Инструмент превращает байты в проверяемое знание</a:t>
            </a:r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207" y="28346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388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7" name="Picture 6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767" y="28346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3844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Релиз v1.0.0</a:t>
            </a:r>
          </a:p>
        </p:txBody>
      </p:sp>
      <p:pic>
        <p:nvPicPr>
          <p:cNvPr id="9" name="Picture 8" descr="qr_telegram_pas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7" y="283464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@Pasha1778</a:t>
            </a:r>
          </a:p>
        </p:txBody>
      </p:sp>
      <p:pic>
        <p:nvPicPr>
          <p:cNvPr id="11" name="Picture 10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887" y="2834640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2756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@petruan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A8A29E"/>
                </a:solidFill>
                <a:latin typeface="JetBrains Mono"/>
                <a:hlinkClick r:id="rId6"/>
              </a:rPr>
              <a:t>github.com/Pavel1778/madrigal-protocol-lab</a:t>
            </a:r>
          </a:p>
        </p:txBody>
      </p:sp>
      <p:pic>
        <p:nvPicPr>
          <p:cNvPr id="14" name="Picture 13" descr="madrigal-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0328" y="5660136"/>
            <a:ext cx="2377440" cy="5760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6263640"/>
            <a:ext cx="103628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A8A29E"/>
                </a:solidFill>
                <a:latin typeface="JetBrains Mono"/>
              </a:rPr>
              <a:t>Кейс #02 · UMIRHack 2026</a:t>
            </a:r>
          </a:p>
        </p:txBody>
      </p:sp>
    </p:spTree>
  </p:cSld>
  <p:clrMapOvr>
    <a:masterClrMapping/>
  </p:clrMapOvr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