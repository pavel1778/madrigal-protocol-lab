
<file path=[Content_Types].xml><?xml version="1.0" encoding="utf-8"?>
<Types xmlns="http://schemas.openxmlformats.org/package/2006/content-types">
  <Default Extension="fntdata" ContentType="application/x-fontdata"/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embedTrueTypeFonts="1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mbeddedFontLst>
    <p:embeddedFont>
      <p:font typeface="Tektur"/>
      <p:regular r:id="rId27" fontKey="{27E04CAF-4F9E-C315-3E78-7ADC5AE0D597}"/>
      <p:bold r:id="rId28" fontKey="{A12660F0-7690-25AC-9BE9-6509C0A8B2A5}"/>
    </p:embeddedFont>
    <p:embeddedFont>
      <p:font typeface="Montserrat"/>
      <p:regular r:id="rId29" fontKey="{3547397D-CEC3-B89A-5FB5-020C9CB6E4DD}"/>
      <p:bold r:id="rId30" fontKey="{0CB8D5B1-66EF-C706-0E19-6341EC3D8E46}"/>
    </p:embeddedFont>
    <p:embeddedFont>
      <p:font typeface="JetBrains Mono"/>
      <p:regular r:id="rId31" fontKey="{C6EB8399-2A56-D694-A331-105094B34A55}"/>
    </p:embeddedFont>
  </p:embeddedFon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font" Target="fonts/font1.fntdata"/><Relationship Id="rId28" Type="http://schemas.openxmlformats.org/officeDocument/2006/relationships/font" Target="fonts/font2.fntdata"/><Relationship Id="rId29" Type="http://schemas.openxmlformats.org/officeDocument/2006/relationships/font" Target="fonts/font3.fntdata"/><Relationship Id="rId30" Type="http://schemas.openxmlformats.org/officeDocument/2006/relationships/font" Target="fonts/font4.fntdata"/><Relationship Id="rId31" Type="http://schemas.openxmlformats.org/officeDocument/2006/relationships/font" Target="fonts/font5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Приветствие, 20 секунд.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человека, разделение ролей, QR на контакт у каждого.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QR ведут на репозиторий, релиз и контакты.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3.png"/><Relationship Id="rId5" Type="http://schemas.openxmlformats.org/officeDocument/2006/relationships/image" Target="../media/image5.png"/><Relationship Id="rId6" Type="http://schemas.openxmlformats.org/officeDocument/2006/relationships/hyperlink" Target="https://github.com/Pavel1778/madrigal-protocol-lab" TargetMode="External"/><Relationship Id="rId7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410913"/>
              </a:gs>
              <a:gs pos="50000">
                <a:srgbClr val="610D1C"/>
              </a:gs>
              <a:gs pos="100000">
                <a:srgbClr val="A2391D"/>
              </a:gs>
            </a:gsLst>
            <a:lin ang="270000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051560"/>
            <a:ext cx="822960" cy="8229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828800" y="1207008"/>
            <a:ext cx="7315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A8A29E"/>
                </a:solidFill>
                <a:latin typeface="JetBrains Mono"/>
              </a:rPr>
              <a:t>MADRIGAL-PROTOCOL-LAB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545775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5600" b="1">
                <a:solidFill>
                  <a:srgbClr val="F4F1EC"/>
                </a:solidFill>
                <a:latin typeface="Tektur"/>
              </a:rPr>
              <a:t>Лаборатория протоколов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383280"/>
            <a:ext cx="8686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0">
                <a:solidFill>
                  <a:srgbClr val="F4F1EC"/>
                </a:solidFill>
                <a:latin typeface="Montserrat"/>
              </a:rPr>
              <a:t>Восстановление недокументированного бинарного протокола поверх TCP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4343400"/>
            <a:ext cx="2194560" cy="64008"/>
          </a:xfrm>
          <a:prstGeom prst="rect">
            <a:avLst/>
          </a:prstGeom>
          <a:solidFill>
            <a:srgbClr val="D06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4617720"/>
            <a:ext cx="1054577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>
                <a:solidFill>
                  <a:srgbClr val="A8A29E"/>
                </a:solidFill>
                <a:latin typeface="JetBrains Mono"/>
              </a:rPr>
              <a:t>UMIRHack 2026 · кейс #02 · Мадригал · команда HTTP 418</a:t>
            </a:r>
          </a:p>
        </p:txBody>
      </p:sp>
    </p:spTree>
  </p:cSld>
  <p:clrMapOvr>
    <a:masterClrMapping/>
  </p:clrMapOvr>
  <p:transition spd="med" fade="1"/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410913"/>
              </a:gs>
              <a:gs pos="50000">
                <a:srgbClr val="610D1C"/>
              </a:gs>
              <a:gs pos="100000">
                <a:srgbClr val="A2391D"/>
              </a:gs>
            </a:gsLst>
            <a:lin ang="270000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545775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 b="1">
                <a:solidFill>
                  <a:srgbClr val="F4F1EC"/>
                </a:solidFill>
                <a:latin typeface="Tektur"/>
              </a:rPr>
              <a:t>Нас двое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91640"/>
            <a:ext cx="5044287" cy="2468880"/>
          </a:xfrm>
          <a:prstGeom prst="rect">
            <a:avLst/>
          </a:prstGeom>
          <a:solidFill>
            <a:srgbClr val="1F2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vatar_pavel_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2057400"/>
            <a:ext cx="1645920" cy="1645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971800" y="2148840"/>
            <a:ext cx="1752447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100" b="1">
                <a:solidFill>
                  <a:srgbClr val="F4F1EC"/>
                </a:solidFill>
                <a:latin typeface="Tektur"/>
              </a:rPr>
              <a:t>Сабадаш Павел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71800" y="2697480"/>
            <a:ext cx="1752447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A8A29E"/>
                </a:solidFill>
                <a:latin typeface="Montserrat"/>
              </a:rPr>
              <a:t>Архитектура · захват · интерфейс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71800" y="3154680"/>
            <a:ext cx="17524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D0603A"/>
                </a:solidFill>
                <a:latin typeface="JetBrains Mono"/>
              </a:rPr>
              <a:t>@Pasha1778</a:t>
            </a:r>
          </a:p>
        </p:txBody>
      </p:sp>
      <p:pic>
        <p:nvPicPr>
          <p:cNvPr id="10" name="Picture 9" descr="qr_telegram_pash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5687" y="2148840"/>
            <a:ext cx="758952" cy="75895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324447" y="1691640"/>
            <a:ext cx="5044287" cy="2468880"/>
          </a:xfrm>
          <a:prstGeom prst="rect">
            <a:avLst/>
          </a:prstGeom>
          <a:solidFill>
            <a:srgbClr val="1F2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avatar_nikita_rou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8767" y="2057400"/>
            <a:ext cx="1645920" cy="16459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473287" y="2148840"/>
            <a:ext cx="1752447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100" b="1">
                <a:solidFill>
                  <a:srgbClr val="F4F1EC"/>
                </a:solidFill>
                <a:latin typeface="Tektur"/>
              </a:rPr>
              <a:t>Предков Никита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73287" y="2697480"/>
            <a:ext cx="1752447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A8A29E"/>
                </a:solidFill>
                <a:latin typeface="Montserrat"/>
              </a:rPr>
              <a:t>Правила · тесты · ревью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73287" y="3154680"/>
            <a:ext cx="17524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D0603A"/>
                </a:solidFill>
                <a:latin typeface="JetBrains Mono"/>
              </a:rPr>
              <a:t>@petruan</a:t>
            </a:r>
          </a:p>
        </p:txBody>
      </p:sp>
      <p:pic>
        <p:nvPicPr>
          <p:cNvPr id="16" name="Picture 15" descr="qr_telegram_nikit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17175" y="2148840"/>
            <a:ext cx="758952" cy="75895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22960" y="6446520"/>
            <a:ext cx="3840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A8A29E"/>
                </a:solidFill>
                <a:latin typeface="Montserrat"/>
              </a:rPr>
              <a:t>Команда HTTP 418 · кейс #02 · Мадригал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6446520"/>
            <a:ext cx="3383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A8A29E"/>
                </a:solidFill>
                <a:latin typeface="Montserrat"/>
              </a:rPr>
              <a:t>Постановка и метод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6446520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A8A29E"/>
                </a:solidFill>
                <a:latin typeface="Montserrat"/>
              </a:rPr>
              <a:t>2 / 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5" dur="300" fill="hold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6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8" dur="300" fill="hold"/>
                            <p:tgtEl>
                              <p:spTgt spid="12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</p:seq>
          </p:childTnLst>
        </p:cTn>
      </p:par>
    </p:tnLst>
  </p:timing>
  <p:transition spd="med" fade="1"/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410913"/>
              </a:gs>
              <a:gs pos="50000">
                <a:srgbClr val="610D1C"/>
              </a:gs>
              <a:gs pos="100000">
                <a:srgbClr val="A2391D"/>
              </a:gs>
            </a:gsLst>
            <a:lin ang="270000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777240"/>
            <a:ext cx="1054577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1">
                <a:solidFill>
                  <a:srgbClr val="D0603A"/>
                </a:solidFill>
                <a:latin typeface="Montserrat"/>
              </a:rPr>
              <a:t>ПОСТАНОВКА ЗАДАЧИ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10545775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400" b="1">
                <a:solidFill>
                  <a:srgbClr val="F4F1EC"/>
                </a:solidFill>
                <a:latin typeface="Tektur"/>
              </a:rPr>
              <a:t>TCP разрезает сообщения посередине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423160"/>
            <a:ext cx="9601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 b="0">
                <a:solidFill>
                  <a:srgbClr val="A8A29E"/>
                </a:solidFill>
                <a:latin typeface="Montserrat"/>
              </a:rPr>
              <a:t>Границы пакета и границы сообщения — разные вещи</a:t>
            </a:r>
          </a:p>
        </p:txBody>
      </p:sp>
      <p:pic>
        <p:nvPicPr>
          <p:cNvPr id="7" name="Picture 6" descr="tcp_fram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200400"/>
            <a:ext cx="6539127" cy="23774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6446520"/>
            <a:ext cx="3840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A8A29E"/>
                </a:solidFill>
                <a:latin typeface="Montserrat"/>
              </a:rPr>
              <a:t>Команда HTTP 418 · кейс #02 · Мадригал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6446520"/>
            <a:ext cx="3383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A8A29E"/>
                </a:solidFill>
                <a:latin typeface="Montserrat"/>
              </a:rPr>
              <a:t>Постановка и метод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6446520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A8A29E"/>
                </a:solidFill>
                <a:latin typeface="Montserrat"/>
              </a:rPr>
              <a:t>3 / 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5" dur="300" fill="hold"/>
                            <p:tgtEl>
                              <p:spTgt spid="5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6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8" dur="300" fill="hold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</p:seq>
          </p:childTnLst>
        </p:cTn>
      </p:par>
    </p:tnLst>
  </p:timing>
  <p:transition spd="med" fade="1"/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410913"/>
              </a:gs>
              <a:gs pos="50000">
                <a:srgbClr val="610D1C"/>
              </a:gs>
              <a:gs pos="100000">
                <a:srgbClr val="A2391D"/>
              </a:gs>
            </a:gsLst>
            <a:lin ang="270000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545775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 b="1">
                <a:solidFill>
                  <a:srgbClr val="F4F1EC"/>
                </a:solidFill>
                <a:latin typeface="Tektur"/>
              </a:rPr>
              <a:t>Дано и требуется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91640"/>
            <a:ext cx="5044287" cy="3291840"/>
          </a:xfrm>
          <a:prstGeom prst="rect">
            <a:avLst/>
          </a:prstGeom>
          <a:solidFill>
            <a:srgbClr val="1F2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691640"/>
            <a:ext cx="45720" cy="3291840"/>
          </a:xfrm>
          <a:prstGeom prst="rect">
            <a:avLst/>
          </a:prstGeom>
          <a:solidFill>
            <a:srgbClr val="D06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1965960"/>
            <a:ext cx="440420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1">
                <a:solidFill>
                  <a:srgbClr val="D0603A"/>
                </a:solidFill>
                <a:latin typeface="Montserrat"/>
              </a:rPr>
              <a:t>ДАНО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468880"/>
            <a:ext cx="4404207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700" b="0">
                <a:solidFill>
                  <a:srgbClr val="F4F1EC"/>
                </a:solidFill>
                <a:latin typeface="Montserrat"/>
              </a:rPr>
              <a:t>•  Захваты </a:t>
            </a:r>
            <a:r>
              <a:rPr sz="1500">
                <a:solidFill>
                  <a:srgbClr val="D0603A"/>
                </a:solidFill>
                <a:latin typeface="JetBrains Mono"/>
              </a:rPr>
              <a:t>pcap</a:t>
            </a:r>
            <a:r>
              <a:rPr sz="1700" b="0">
                <a:solidFill>
                  <a:srgbClr val="F4F1EC"/>
                </a:solidFill>
                <a:latin typeface="Montserrat"/>
              </a:rPr>
              <a:t>/</a:t>
            </a:r>
            <a:r>
              <a:rPr sz="1500">
                <a:solidFill>
                  <a:srgbClr val="D0603A"/>
                </a:solidFill>
                <a:latin typeface="JetBrains Mono"/>
              </a:rPr>
              <a:t>pcapng</a:t>
            </a:r>
            <a:r>
              <a:rPr sz="1700" b="0">
                <a:solidFill>
                  <a:srgbClr val="F4F1EC"/>
                </a:solidFill>
                <a:latin typeface="Montserrat"/>
              </a:rPr>
              <a:t> и журнал действий устройства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291840"/>
            <a:ext cx="4404207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700" b="0">
                <a:solidFill>
                  <a:srgbClr val="F4F1EC"/>
                </a:solidFill>
                <a:latin typeface="Montserrat"/>
              </a:rPr>
              <a:t>•  Спецификации протокола нет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24447" y="1691640"/>
            <a:ext cx="5044287" cy="3291840"/>
          </a:xfrm>
          <a:prstGeom prst="rect">
            <a:avLst/>
          </a:prstGeom>
          <a:solidFill>
            <a:srgbClr val="1F2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24447" y="1691640"/>
            <a:ext cx="45720" cy="3291840"/>
          </a:xfrm>
          <a:prstGeom prst="rect">
            <a:avLst/>
          </a:prstGeom>
          <a:solidFill>
            <a:srgbClr val="D06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44487" y="1965960"/>
            <a:ext cx="440420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1">
                <a:solidFill>
                  <a:srgbClr val="D0603A"/>
                </a:solidFill>
                <a:latin typeface="Montserrat"/>
              </a:rPr>
              <a:t>ТРЕБУЕТСЯ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44487" y="2468880"/>
            <a:ext cx="4404207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700" b="0">
                <a:solidFill>
                  <a:srgbClr val="F4F1EC"/>
                </a:solidFill>
                <a:latin typeface="Montserrat"/>
              </a:rPr>
              <a:t>•  Проверяемая интерпретация структуры сообщений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487" y="3291840"/>
            <a:ext cx="4404207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700" b="0">
                <a:solidFill>
                  <a:srgbClr val="F4F1EC"/>
                </a:solidFill>
                <a:latin typeface="Montserrat"/>
              </a:rPr>
              <a:t>•  Видно, где чтение верно, а где перестаёт работать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6446520"/>
            <a:ext cx="3840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A8A29E"/>
                </a:solidFill>
                <a:latin typeface="Montserrat"/>
              </a:rPr>
              <a:t>Команда HTTP 418 · кейс #02 · Мадригал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6446520"/>
            <a:ext cx="3383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A8A29E"/>
                </a:solidFill>
                <a:latin typeface="Montserrat"/>
              </a:rPr>
              <a:t>Постановка и метод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60" y="6446520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A8A29E"/>
                </a:solidFill>
                <a:latin typeface="Montserrat"/>
              </a:rPr>
              <a:t>4 / 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5" dur="300" fill="hold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6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8" dur="300" fill="hold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</p:seq>
          </p:childTnLst>
        </p:cTn>
      </p:par>
    </p:tnLst>
  </p:timing>
  <p:transition spd="med" fade="1"/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410913"/>
              </a:gs>
              <a:gs pos="50000">
                <a:srgbClr val="610D1C"/>
              </a:gs>
              <a:gs pos="100000">
                <a:srgbClr val="A2391D"/>
              </a:gs>
            </a:gsLst>
            <a:lin ang="270000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777240"/>
            <a:ext cx="1054577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1">
                <a:solidFill>
                  <a:srgbClr val="D0603A"/>
                </a:solidFill>
                <a:latin typeface="Montserrat"/>
              </a:rPr>
              <a:t>ХОД РАБОТЫ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188720"/>
            <a:ext cx="1054577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400" b="1">
                <a:solidFill>
                  <a:srgbClr val="F4F1EC"/>
                </a:solidFill>
                <a:latin typeface="Tektur"/>
              </a:rPr>
              <a:t>Смещение поля длины оказалось на четыре байта позже, чем мы считали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9601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700" b="0">
                <a:solidFill>
                  <a:srgbClr val="A8A29E"/>
                </a:solidFill>
                <a:latin typeface="Montserrat"/>
              </a:rPr>
              <a:t>Одно правило, два чтения: поле длины остаётся на offset 2</a:t>
            </a:r>
          </a:p>
        </p:txBody>
      </p:sp>
      <p:pic>
        <p:nvPicPr>
          <p:cNvPr id="7" name="Picture 6" descr="length_offs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743200"/>
            <a:ext cx="5264209" cy="20116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22960" y="5029200"/>
            <a:ext cx="1643329" cy="384048"/>
          </a:xfrm>
          <a:prstGeom prst="roundRect">
            <a:avLst/>
          </a:prstGeom>
          <a:solidFill>
            <a:srgbClr val="D06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074920"/>
            <a:ext cx="164332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JetBrains Mono"/>
              </a:rPr>
              <a:t>наблюдение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03449" y="5029200"/>
            <a:ext cx="1643329" cy="384048"/>
          </a:xfrm>
          <a:prstGeom prst="roundRect">
            <a:avLst/>
          </a:prstGeom>
          <a:solidFill>
            <a:srgbClr val="D06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03449" y="5074920"/>
            <a:ext cx="164332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JetBrains Mono"/>
              </a:rPr>
              <a:t>гипотеза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3938" y="5029200"/>
            <a:ext cx="1643329" cy="384048"/>
          </a:xfrm>
          <a:prstGeom prst="roundRect">
            <a:avLst/>
          </a:prstGeom>
          <a:solidFill>
            <a:srgbClr val="D06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83938" y="5074920"/>
            <a:ext cx="164332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JetBrains Mono"/>
              </a:rPr>
              <a:t>проверка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4427" y="5029200"/>
            <a:ext cx="1643329" cy="384048"/>
          </a:xfrm>
          <a:prstGeom prst="roundRect">
            <a:avLst/>
          </a:prstGeom>
          <a:solidFill>
            <a:srgbClr val="D06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64427" y="5074920"/>
            <a:ext cx="164332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JetBrains Mono"/>
              </a:rPr>
              <a:t>контрпример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44916" y="5029200"/>
            <a:ext cx="1643329" cy="384048"/>
          </a:xfrm>
          <a:prstGeom prst="roundRect">
            <a:avLst/>
          </a:prstGeom>
          <a:solidFill>
            <a:srgbClr val="D06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44916" y="5074920"/>
            <a:ext cx="164332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JetBrains Mono"/>
              </a:rPr>
              <a:t>уточнение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725405" y="5029200"/>
            <a:ext cx="1643329" cy="384048"/>
          </a:xfrm>
          <a:prstGeom prst="roundRect">
            <a:avLst/>
          </a:prstGeom>
          <a:solidFill>
            <a:srgbClr val="D06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25405" y="5074920"/>
            <a:ext cx="164332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JetBrains Mono"/>
              </a:rPr>
              <a:t>повторная проверка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446520"/>
            <a:ext cx="3840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A8A29E"/>
                </a:solidFill>
                <a:latin typeface="Montserrat"/>
              </a:rPr>
              <a:t>Команда HTTP 418 · кейс #02 · Мадригал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89120" y="6446520"/>
            <a:ext cx="3383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A8A29E"/>
                </a:solidFill>
                <a:latin typeface="Montserrat"/>
              </a:rPr>
              <a:t>Постановка и метод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8160" y="6446520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A8A29E"/>
                </a:solidFill>
                <a:latin typeface="Montserrat"/>
              </a:rPr>
              <a:t>5 / 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5" dur="300" fill="hold"/>
                            <p:tgtEl>
                              <p:spTgt spid="5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6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8" dur="300" fill="hold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</p:seq>
          </p:childTnLst>
        </p:cTn>
      </p:par>
    </p:tnLst>
  </p:timing>
  <p:transition spd="med" fade="1"/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410913"/>
              </a:gs>
              <a:gs pos="50000">
                <a:srgbClr val="610D1C"/>
              </a:gs>
              <a:gs pos="100000">
                <a:srgbClr val="A2391D"/>
              </a:gs>
            </a:gsLst>
            <a:lin ang="270000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545775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 b="1">
                <a:solidFill>
                  <a:srgbClr val="F4F1EC"/>
                </a:solidFill>
                <a:latin typeface="Tektur"/>
              </a:rPr>
              <a:t>Три модуля связаны форматами, а не вызовами</a:t>
            </a:r>
          </a:p>
        </p:txBody>
      </p:sp>
      <p:sp>
        <p:nvSpPr>
          <p:cNvPr id="5" name="Rectangle 4"/>
          <p:cNvSpPr/>
          <p:nvPr/>
        </p:nvSpPr>
        <p:spPr>
          <a:xfrm>
            <a:off x="655167" y="1965960"/>
            <a:ext cx="3200400" cy="2011680"/>
          </a:xfrm>
          <a:prstGeom prst="rect">
            <a:avLst/>
          </a:prstGeom>
          <a:solidFill>
            <a:srgbClr val="1F2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5167" y="1965960"/>
            <a:ext cx="45720" cy="2011680"/>
          </a:xfrm>
          <a:prstGeom prst="rect">
            <a:avLst/>
          </a:prstGeom>
          <a:solidFill>
            <a:srgbClr val="D06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3767" y="2286000"/>
            <a:ext cx="2743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 b="1">
                <a:solidFill>
                  <a:srgbClr val="F4F1EC"/>
                </a:solidFill>
                <a:latin typeface="Tektur"/>
              </a:rPr>
              <a:t>capture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3767" y="2926080"/>
            <a:ext cx="2743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A8A29E"/>
                </a:solidFill>
                <a:latin typeface="Montserrat"/>
              </a:rPr>
              <a:t>pcap/pcapng → сессии</a:t>
            </a:r>
          </a:p>
          <a:p>
            <a:r>
              <a:rPr sz="1400" b="0">
                <a:solidFill>
                  <a:srgbClr val="A8A29E"/>
                </a:solidFill>
                <a:latin typeface="Montserrat"/>
              </a:rPr>
              <a:t>reassembly, provenance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55567" y="2743200"/>
            <a:ext cx="6400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>
                <a:solidFill>
                  <a:srgbClr val="D0603A"/>
                </a:solidFill>
                <a:latin typeface="JetBrains Mono"/>
              </a:rPr>
              <a:t>JSON 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95647" y="1965960"/>
            <a:ext cx="3200400" cy="2011680"/>
          </a:xfrm>
          <a:prstGeom prst="rect">
            <a:avLst/>
          </a:prstGeom>
          <a:solidFill>
            <a:srgbClr val="1F2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95647" y="1965960"/>
            <a:ext cx="45720" cy="2011680"/>
          </a:xfrm>
          <a:prstGeom prst="rect">
            <a:avLst/>
          </a:prstGeom>
          <a:solidFill>
            <a:srgbClr val="D06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24247" y="2286000"/>
            <a:ext cx="2743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 b="1">
                <a:solidFill>
                  <a:srgbClr val="F4F1EC"/>
                </a:solidFill>
                <a:latin typeface="Tektur"/>
              </a:rPr>
              <a:t>protocol + hypothesis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24247" y="2926080"/>
            <a:ext cx="2743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A8A29E"/>
                </a:solidFill>
                <a:latin typeface="Montserrat"/>
              </a:rPr>
              <a:t>правила, фрейминг</a:t>
            </a:r>
          </a:p>
          <a:p>
            <a:r>
              <a:rPr sz="1400" b="0">
                <a:solidFill>
                  <a:srgbClr val="A8A29E"/>
                </a:solidFill>
                <a:latin typeface="Montserrat"/>
              </a:rPr>
              <a:t>контрпримеры, версии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96047" y="2743200"/>
            <a:ext cx="6400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>
                <a:solidFill>
                  <a:srgbClr val="D0603A"/>
                </a:solidFill>
                <a:latin typeface="JetBrains Mono"/>
              </a:rPr>
              <a:t>JSON 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36127" y="1965960"/>
            <a:ext cx="3200400" cy="2011680"/>
          </a:xfrm>
          <a:prstGeom prst="rect">
            <a:avLst/>
          </a:prstGeom>
          <a:solidFill>
            <a:srgbClr val="1F2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36127" y="1965960"/>
            <a:ext cx="45720" cy="2011680"/>
          </a:xfrm>
          <a:prstGeom prst="rect">
            <a:avLst/>
          </a:prstGeom>
          <a:solidFill>
            <a:srgbClr val="D06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64727" y="2286000"/>
            <a:ext cx="2743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 b="1">
                <a:solidFill>
                  <a:srgbClr val="F4F1EC"/>
                </a:solidFill>
                <a:latin typeface="Tektur"/>
              </a:rPr>
              <a:t>ui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64727" y="2926080"/>
            <a:ext cx="2743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A8A29E"/>
                </a:solidFill>
                <a:latin typeface="Montserrat"/>
              </a:rPr>
              <a:t>окно PySide6</a:t>
            </a:r>
          </a:p>
          <a:p>
            <a:r>
              <a:rPr sz="1400" b="0">
                <a:solidFill>
                  <a:srgbClr val="A8A29E"/>
                </a:solidFill>
                <a:latin typeface="Montserrat"/>
              </a:rPr>
              <a:t>исследование и просмотр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6035040"/>
            <a:ext cx="1054577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A8A29E"/>
                </a:solidFill>
                <a:latin typeface="Montserrat"/>
              </a:rPr>
              <a:t>Контракты между модулями зафиксированы схемами JSON; порядок вызовов не важен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446520"/>
            <a:ext cx="3840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A8A29E"/>
                </a:solidFill>
                <a:latin typeface="Montserrat"/>
              </a:rPr>
              <a:t>Команда HTTP 418 · кейс #02 · Мадригал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89120" y="6446520"/>
            <a:ext cx="3383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A8A29E"/>
                </a:solidFill>
                <a:latin typeface="Montserrat"/>
              </a:rPr>
              <a:t>Постановка и метод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8160" y="6446520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A8A29E"/>
                </a:solidFill>
                <a:latin typeface="Montserrat"/>
              </a:rPr>
              <a:t>6 / 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5" dur="300" fill="hold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6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8" dur="300" fill="hold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9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11" dur="300" fill="hold"/>
                            <p:tgtEl>
                              <p:spTgt spid="1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</p:seq>
          </p:childTnLst>
        </p:cTn>
      </p:par>
    </p:tnLst>
  </p:timing>
  <p:transition spd="med" fade="1"/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410913"/>
              </a:gs>
              <a:gs pos="50000">
                <a:srgbClr val="610D1C"/>
              </a:gs>
              <a:gs pos="100000">
                <a:srgbClr val="A2391D"/>
              </a:gs>
            </a:gsLst>
            <a:lin ang="270000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54577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 b="1">
                <a:solidFill>
                  <a:srgbClr val="F4F1EC"/>
                </a:solidFill>
                <a:latin typeface="Tektur"/>
              </a:rPr>
              <a:t>От интерпретации можно вернуться к исходным данным</a:t>
            </a:r>
          </a:p>
        </p:txBody>
      </p:sp>
      <p:pic>
        <p:nvPicPr>
          <p:cNvPr id="5" name="Picture 4" descr="screenshot-proven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91640"/>
            <a:ext cx="6766560" cy="275195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046720" y="1691640"/>
            <a:ext cx="3322015" cy="1234440"/>
          </a:xfrm>
          <a:prstGeom prst="rect">
            <a:avLst/>
          </a:prstGeom>
          <a:solidFill>
            <a:srgbClr val="1F2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0" y="1691640"/>
            <a:ext cx="45720" cy="1234440"/>
          </a:xfrm>
          <a:prstGeom prst="rect">
            <a:avLst/>
          </a:prstGeom>
          <a:solidFill>
            <a:srgbClr val="D06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75320" y="1920240"/>
            <a:ext cx="286481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F4F1EC"/>
                </a:solidFill>
                <a:latin typeface="Montserrat"/>
              </a:rPr>
              <a:t>packet 3 · seq 1001 · ts 1700000000.004 · сессия s1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446520"/>
            <a:ext cx="3840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A8A29E"/>
                </a:solidFill>
                <a:latin typeface="Montserrat"/>
              </a:rPr>
              <a:t>Команда HTTP 418 · кейс #02 · Мадригал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6446520"/>
            <a:ext cx="3383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A8A29E"/>
                </a:solidFill>
                <a:latin typeface="Montserrat"/>
              </a:rPr>
              <a:t>Постановка и метод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38160" y="6446520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A8A29E"/>
                </a:solidFill>
                <a:latin typeface="Montserrat"/>
              </a:rPr>
              <a:t>7 / 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5" dur="300" fill="hold"/>
                            <p:tgtEl>
                              <p:spTgt spid="5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</p:seq>
          </p:childTnLst>
        </p:cTn>
      </p:par>
    </p:tnLst>
  </p:timing>
  <p:transition spd="med" fade="1"/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410913"/>
              </a:gs>
              <a:gs pos="50000">
                <a:srgbClr val="610D1C"/>
              </a:gs>
              <a:gs pos="100000">
                <a:srgbClr val="A2391D"/>
              </a:gs>
            </a:gsLst>
            <a:lin ang="270000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545775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 b="1">
                <a:solidFill>
                  <a:srgbClr val="F4F1EC"/>
                </a:solidFill>
                <a:latin typeface="Tektur"/>
              </a:rPr>
              <a:t>Правило проверяется на всём корпусе сразу</a:t>
            </a:r>
          </a:p>
        </p:txBody>
      </p:sp>
      <p:pic>
        <p:nvPicPr>
          <p:cNvPr id="5" name="Picture 4" descr="screenshot-ru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91640"/>
            <a:ext cx="5044287" cy="1745050"/>
          </a:xfrm>
          <a:prstGeom prst="rect">
            <a:avLst/>
          </a:prstGeom>
        </p:spPr>
      </p:pic>
      <p:pic>
        <p:nvPicPr>
          <p:cNvPr id="6" name="Picture 5" descr="screenshot-valid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4447" y="1691640"/>
            <a:ext cx="5044287" cy="26680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6446520"/>
            <a:ext cx="3840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A8A29E"/>
                </a:solidFill>
                <a:latin typeface="Montserrat"/>
              </a:rPr>
              <a:t>Команда HTTP 418 · кейс #02 · Мадригал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446520"/>
            <a:ext cx="3383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A8A29E"/>
                </a:solidFill>
                <a:latin typeface="Montserrat"/>
              </a:rPr>
              <a:t>Постановка и метод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46520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A8A29E"/>
                </a:solidFill>
                <a:latin typeface="Montserrat"/>
              </a:rPr>
              <a:t>8 / 19</a:t>
            </a:r>
          </a:p>
        </p:txBody>
      </p:sp>
    </p:spTree>
  </p:cSld>
  <p:clrMapOvr>
    <a:masterClrMapping/>
  </p:clrMapOvr>
  <p:transition spd="med" fade="1"/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410913"/>
              </a:gs>
              <a:gs pos="50000">
                <a:srgbClr val="610D1C"/>
              </a:gs>
              <a:gs pos="100000">
                <a:srgbClr val="A2391D"/>
              </a:gs>
            </a:gsLst>
            <a:lin ang="270000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54577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 b="1">
                <a:solidFill>
                  <a:srgbClr val="F4F1EC"/>
                </a:solidFill>
                <a:latin typeface="Tektur"/>
              </a:rPr>
              <a:t>Контрпример важнее метрики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188720"/>
            <a:ext cx="1054577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1">
                <a:solidFill>
                  <a:srgbClr val="D0603A"/>
                </a:solidFill>
                <a:latin typeface="Montserrat"/>
              </a:rPr>
              <a:t>4 НЕЗАВИСИМЫЕ СЕССИИ В КОРПУСЕ + ЖУРНАЛ ДЕЙСТВИЙ УСТРОЙСТВА</a:t>
            </a:r>
          </a:p>
        </p:txBody>
      </p:sp>
      <p:pic>
        <p:nvPicPr>
          <p:cNvPr id="6" name="Picture 5" descr="screenshot-counterexamp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91640"/>
            <a:ext cx="6766560" cy="2852021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046720" y="1691640"/>
            <a:ext cx="3322015" cy="1234440"/>
          </a:xfrm>
          <a:prstGeom prst="rect">
            <a:avLst/>
          </a:prstGeom>
          <a:solidFill>
            <a:srgbClr val="1F2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0" y="1691640"/>
            <a:ext cx="45720" cy="1234440"/>
          </a:xfrm>
          <a:prstGeom prst="rect">
            <a:avLst/>
          </a:prstGeom>
          <a:solidFill>
            <a:srgbClr val="D06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75320" y="1920240"/>
            <a:ext cx="286481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F4F1EC"/>
                </a:solidFill>
                <a:latin typeface="Montserrat"/>
              </a:rPr>
              <a:t>02 00 00 03 13 00 55  —  команда 2 вне ожидаемого набора [1]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6720" y="3063240"/>
            <a:ext cx="3322015" cy="1234440"/>
          </a:xfrm>
          <a:prstGeom prst="rect">
            <a:avLst/>
          </a:prstGeom>
          <a:solidFill>
            <a:srgbClr val="1F2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5320" y="3227832"/>
            <a:ext cx="28648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1">
                <a:solidFill>
                  <a:srgbClr val="D0603A"/>
                </a:solidFill>
                <a:latin typeface="Montserrat"/>
              </a:rPr>
              <a:t>ОДИН БАЙТ — 80 КОНТРПРИМЕРОВ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75320" y="3566160"/>
            <a:ext cx="286481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F4F1EC"/>
                </a:solidFill>
                <a:latin typeface="Montserrat"/>
              </a:rPr>
              <a:t>80 несоответствий v1 — на offset 0 в сессиях s2 и s3.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035040"/>
            <a:ext cx="1054577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A8A29E"/>
                </a:solidFill>
                <a:latin typeface="Montserrat"/>
              </a:rPr>
              <a:t>Значение 2 повторяется в независимых сессиях корпуса и связано с действием «изменить настройку» в журнале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446520"/>
            <a:ext cx="3840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A8A29E"/>
                </a:solidFill>
                <a:latin typeface="Montserrat"/>
              </a:rPr>
              <a:t>Команда HTTP 418 · кейс #02 · Мадригал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6446520"/>
            <a:ext cx="3383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A8A29E"/>
                </a:solidFill>
                <a:latin typeface="Montserrat"/>
              </a:rPr>
              <a:t>Постановка и метод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60" y="6446520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A8A29E"/>
                </a:solidFill>
                <a:latin typeface="Montserrat"/>
              </a:rPr>
              <a:t>9 / 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5" dur="300" fill="hold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6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8" dur="300" fill="hold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9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11" dur="300" fill="hold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</p:seq>
          </p:childTnLst>
        </p:cTn>
      </p:par>
    </p:tnLst>
  </p:timing>
  <p:transition spd="med" fade="1"/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410913"/>
              </a:gs>
              <a:gs pos="50000">
                <a:srgbClr val="610D1C"/>
              </a:gs>
              <a:gs pos="100000">
                <a:srgbClr val="A2391D"/>
              </a:gs>
            </a:gsLst>
            <a:lin ang="270000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4577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7200" b="1">
                <a:solidFill>
                  <a:srgbClr val="D0603A"/>
                </a:solidFill>
                <a:latin typeface="Tektur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00400"/>
            <a:ext cx="1054577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 b="1">
                <a:solidFill>
                  <a:srgbClr val="F4F1EC"/>
                </a:solidFill>
                <a:latin typeface="Tektur"/>
              </a:rPr>
              <a:t>Что получилось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4206240"/>
            <a:ext cx="3108960" cy="82296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410913"/>
              </a:gs>
              <a:gs pos="50000">
                <a:srgbClr val="610D1C"/>
              </a:gs>
              <a:gs pos="100000">
                <a:srgbClr val="A2391D"/>
              </a:gs>
            </a:gsLst>
            <a:lin ang="270000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480560"/>
            <a:ext cx="1054577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0">
                <a:solidFill>
                  <a:srgbClr val="A8A29E"/>
                </a:solidFill>
                <a:latin typeface="Montserrat"/>
              </a:rPr>
              <a:t>Точность, покрытие корпуса организаторов, ресурсы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446520"/>
            <a:ext cx="3840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A8A29E"/>
                </a:solidFill>
                <a:latin typeface="Montserrat"/>
              </a:rPr>
              <a:t>Команда HTTP 418 · кейс #02 · Мадригал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6446520"/>
            <a:ext cx="3383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A8A29E"/>
                </a:solidFill>
                <a:latin typeface="Montserrat"/>
              </a:rPr>
              <a:t>Результаты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6446520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A8A29E"/>
                </a:solidFill>
                <a:latin typeface="Montserrat"/>
              </a:rPr>
              <a:t>10 / 19</a:t>
            </a:r>
          </a:p>
        </p:txBody>
      </p:sp>
    </p:spTree>
  </p:cSld>
  <p:clrMapOvr>
    <a:masterClrMapping/>
  </p:clrMapOvr>
  <p:transition spd="med" fade="1"/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410913"/>
              </a:gs>
              <a:gs pos="50000">
                <a:srgbClr val="610D1C"/>
              </a:gs>
              <a:gs pos="100000">
                <a:srgbClr val="A2391D"/>
              </a:gs>
            </a:gsLst>
            <a:lin ang="270000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1054577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>
                <a:solidFill>
                  <a:srgbClr val="F4F1EC"/>
                </a:solidFill>
                <a:latin typeface="Tektur"/>
              </a:rPr>
              <a:t>Уточнили правило: 60 из 140 → 140 из 140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65960"/>
            <a:ext cx="1054577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A8A29E"/>
                </a:solidFill>
                <a:latin typeface="Montserrat"/>
              </a:rPr>
              <a:t>На корпусе уточнения. Отдельно проверено на реальном датасете: 45 + 45, precision 1.00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9496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0">
                <a:solidFill>
                  <a:srgbClr val="F4F1EC"/>
                </a:solidFill>
                <a:latin typeface="Montserrat"/>
              </a:rPr>
              <a:t>Было 60 matched из 140 и 80 контрпримеров. Стало 140 matched из 140 и ноль контрпримеров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88920"/>
            <a:ext cx="914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200" b="0">
                <a:solidFill>
                  <a:srgbClr val="A8A29E"/>
                </a:solidFill>
                <a:latin typeface="JetBrains Mono"/>
              </a:rPr>
              <a:t>v1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0" y="2834640"/>
            <a:ext cx="7436815" cy="548640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828800" y="2834640"/>
            <a:ext cx="3197830" cy="54864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57055" y="278892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4000" b="1">
                <a:solidFill>
                  <a:srgbClr val="F4F1EC"/>
                </a:solidFill>
                <a:latin typeface="Tektur"/>
              </a:rPr>
              <a:t>0.43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977640"/>
            <a:ext cx="914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200" b="0">
                <a:solidFill>
                  <a:srgbClr val="A8A29E"/>
                </a:solidFill>
                <a:latin typeface="JetBrains Mono"/>
              </a:rPr>
              <a:t>v2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28800" y="4023360"/>
            <a:ext cx="7436815" cy="548640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828800" y="4023360"/>
            <a:ext cx="7436815" cy="54864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57055" y="3977640"/>
            <a:ext cx="20116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4000" b="1">
                <a:solidFill>
                  <a:srgbClr val="F4F1EC"/>
                </a:solidFill>
                <a:latin typeface="Tektur"/>
              </a:rPr>
              <a:t>1.00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6446520"/>
            <a:ext cx="3840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A8A29E"/>
                </a:solidFill>
                <a:latin typeface="Montserrat"/>
              </a:rPr>
              <a:t>Команда HTTP 418 · кейс #02 · Мадригал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6446520"/>
            <a:ext cx="3383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A8A29E"/>
                </a:solidFill>
                <a:latin typeface="Montserrat"/>
              </a:rPr>
              <a:t>Результаты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60" y="6446520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A8A29E"/>
                </a:solidFill>
                <a:latin typeface="Montserrat"/>
              </a:rPr>
              <a:t>11 / 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5" dur="300" fill="hold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6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8" dur="300" fill="hold"/>
                            <p:tgtEl>
                              <p:spTgt spid="13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</p:seq>
          </p:childTnLst>
        </p:cTn>
      </p:par>
    </p:tnLst>
  </p:timing>
  <p:transition spd="med" fade="1"/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410913"/>
              </a:gs>
              <a:gs pos="50000">
                <a:srgbClr val="610D1C"/>
              </a:gs>
              <a:gs pos="100000">
                <a:srgbClr val="A2391D"/>
              </a:gs>
            </a:gsLst>
            <a:lin ang="270000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1054577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>
                <a:solidFill>
                  <a:srgbClr val="F4F1EC"/>
                </a:solidFill>
                <a:latin typeface="Tektur"/>
              </a:rPr>
              <a:t>Набор организаторов разобран целиком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286000"/>
            <a:ext cx="51206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0" b="1">
                <a:solidFill>
                  <a:srgbClr val="D0603A"/>
                </a:solidFill>
                <a:latin typeface="Tektur"/>
              </a:rPr>
              <a:t>90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06240"/>
            <a:ext cx="51206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0">
                <a:solidFill>
                  <a:srgbClr val="F4F1EC"/>
                </a:solidFill>
                <a:latin typeface="Montserrat"/>
              </a:rPr>
              <a:t>45 запросов + 45 ответов. Все matched.</a:t>
            </a:r>
          </a:p>
        </p:txBody>
      </p:sp>
      <p:pic>
        <p:nvPicPr>
          <p:cNvPr id="7" name="Picture 6" descr="coverage_don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2011680"/>
            <a:ext cx="4772264" cy="3657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6035040"/>
            <a:ext cx="1054577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A8A29E"/>
                </a:solidFill>
                <a:latin typeface="Montserrat"/>
              </a:rPr>
              <a:t>Данные не использовались при уточнении правила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446520"/>
            <a:ext cx="3840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A8A29E"/>
                </a:solidFill>
                <a:latin typeface="Montserrat"/>
              </a:rPr>
              <a:t>Команда HTTP 418 · кейс #02 · Мадригал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6446520"/>
            <a:ext cx="3383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A8A29E"/>
                </a:solidFill>
                <a:latin typeface="Montserrat"/>
              </a:rPr>
              <a:t>Результаты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38160" y="6446520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A8A29E"/>
                </a:solidFill>
                <a:latin typeface="Montserrat"/>
              </a:rPr>
              <a:t>12 / 19</a:t>
            </a:r>
          </a:p>
        </p:txBody>
      </p:sp>
    </p:spTree>
  </p:cSld>
  <p:clrMapOvr>
    <a:masterClrMapping/>
  </p:clrMapOvr>
  <p:transition spd="med" fade="1"/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410913"/>
              </a:gs>
              <a:gs pos="50000">
                <a:srgbClr val="610D1C"/>
              </a:gs>
              <a:gs pos="100000">
                <a:srgbClr val="A2391D"/>
              </a:gs>
            </a:gsLst>
            <a:lin ang="270000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1054577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>
                <a:solidFill>
                  <a:srgbClr val="F4F1EC"/>
                </a:solidFill>
                <a:latin typeface="Tektur"/>
              </a:rPr>
              <a:t>95 МиБ разбираются за 12 секунд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286000"/>
            <a:ext cx="51206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8800" b="1">
                <a:solidFill>
                  <a:srgbClr val="D0603A"/>
                </a:solidFill>
                <a:latin typeface="Tektur"/>
              </a:rPr>
              <a:t>12 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06240"/>
            <a:ext cx="51206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0">
                <a:solidFill>
                  <a:srgbClr val="F4F1EC"/>
                </a:solidFill>
                <a:latin typeface="Montserrat"/>
              </a:rPr>
              <a:t>Пик памяти 350 МиБ — 9% бюджета 4 ГиБ на машине 16 ГиБ</a:t>
            </a:r>
          </a:p>
        </p:txBody>
      </p:sp>
      <p:pic>
        <p:nvPicPr>
          <p:cNvPr id="7" name="Picture 6" descr="memory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2011680"/>
            <a:ext cx="4604892" cy="36576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22960" y="5349240"/>
            <a:ext cx="1444752" cy="365760"/>
          </a:xfrm>
          <a:prstGeom prst="roundRect">
            <a:avLst/>
          </a:prstGeom>
          <a:solidFill>
            <a:srgbClr val="26282B"/>
          </a:solidFill>
          <a:ln w="12700">
            <a:solidFill>
              <a:srgbClr val="2628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394960"/>
            <a:ext cx="144475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F4F1EC"/>
                </a:solidFill>
                <a:latin typeface="Montserrat"/>
              </a:rPr>
              <a:t>12 с общее время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96312" y="5349240"/>
            <a:ext cx="1600200" cy="365760"/>
          </a:xfrm>
          <a:prstGeom prst="roundRect">
            <a:avLst/>
          </a:prstGeom>
          <a:solidFill>
            <a:srgbClr val="26282B"/>
          </a:solidFill>
          <a:ln w="12700">
            <a:solidFill>
              <a:srgbClr val="2628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96312" y="5394960"/>
            <a:ext cx="16002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F4F1EC"/>
                </a:solidFill>
                <a:latin typeface="Montserrat"/>
              </a:rPr>
              <a:t>350 МиБ пик памяти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25112" y="5349240"/>
            <a:ext cx="1133856" cy="365760"/>
          </a:xfrm>
          <a:prstGeom prst="roundRect">
            <a:avLst/>
          </a:prstGeom>
          <a:solidFill>
            <a:srgbClr val="26282B"/>
          </a:solidFill>
          <a:ln w="12700">
            <a:solidFill>
              <a:srgbClr val="2628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25112" y="5394960"/>
            <a:ext cx="1133856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F4F1EC"/>
                </a:solidFill>
                <a:latin typeface="Montserrat"/>
              </a:rPr>
              <a:t>250k пакетов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035040"/>
            <a:ext cx="1054577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A8A29E"/>
                </a:solidFill>
                <a:latin typeface="Montserrat"/>
              </a:rPr>
              <a:t>Условия замера: 95.66 МиБ, 250 000 пакетов, 1000 сессий, 4 vCPU / 16 ГиБ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6446520"/>
            <a:ext cx="3840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A8A29E"/>
                </a:solidFill>
                <a:latin typeface="Montserrat"/>
              </a:rPr>
              <a:t>Команда HTTP 418 · кейс #02 · Мадригал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6446520"/>
            <a:ext cx="3383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A8A29E"/>
                </a:solidFill>
                <a:latin typeface="Montserrat"/>
              </a:rPr>
              <a:t>Результаты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60" y="6446520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A8A29E"/>
                </a:solidFill>
                <a:latin typeface="Montserrat"/>
              </a:rPr>
              <a:t>13 / 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5" dur="300" fill="hold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6" presetID="22" presetClass="entr" presetSubtype="8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8" dur="400" fill="hold"/>
                            <p:tgtEl>
                              <p:spTgt spid="7"/>
                            </p:tgtEl>
                            <p:attrNameLst>
                              <p:attrName>ppt_w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9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 calcmode="lin" valueType="num">
                          <p:cBhvr additive="base">
                            <p:cTn id="11" dur="300" fill="hold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fltVal val="0"/>
                              </p:val>
                            </p:tav>
                            <p:tav tm="100000">
                              <p:val>
                                <p:fltVal val="1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</p:seq>
          </p:childTnLst>
        </p:cTn>
      </p:par>
    </p:tnLst>
  </p:timing>
  <p:transition spd="med" fade="1"/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410913"/>
              </a:gs>
              <a:gs pos="50000">
                <a:srgbClr val="610D1C"/>
              </a:gs>
              <a:gs pos="100000">
                <a:srgbClr val="A2391D"/>
              </a:gs>
            </a:gsLst>
            <a:lin ang="270000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4577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7200" b="1">
                <a:solidFill>
                  <a:srgbClr val="D0603A"/>
                </a:solidFill>
                <a:latin typeface="Tektur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00400"/>
            <a:ext cx="1054577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 b="1">
                <a:solidFill>
                  <a:srgbClr val="F4F1EC"/>
                </a:solidFill>
                <a:latin typeface="Tektur"/>
              </a:rPr>
              <a:t>Демонстрация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4206240"/>
            <a:ext cx="3108960" cy="82296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410913"/>
              </a:gs>
              <a:gs pos="50000">
                <a:srgbClr val="610D1C"/>
              </a:gs>
              <a:gs pos="100000">
                <a:srgbClr val="A2391D"/>
              </a:gs>
            </a:gsLst>
            <a:lin ang="270000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480560"/>
            <a:ext cx="1054577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0">
                <a:solidFill>
                  <a:srgbClr val="A8A29E"/>
                </a:solidFill>
                <a:latin typeface="Montserrat"/>
              </a:rPr>
              <a:t>Живое окно и запись прогона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446520"/>
            <a:ext cx="3840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A8A29E"/>
                </a:solidFill>
                <a:latin typeface="Montserrat"/>
              </a:rPr>
              <a:t>Команда HTTP 418 · кейс #02 · Мадригал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6446520"/>
            <a:ext cx="3383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A8A29E"/>
                </a:solidFill>
                <a:latin typeface="Montserrat"/>
              </a:rPr>
              <a:t>Демонстрация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6446520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A8A29E"/>
                </a:solidFill>
                <a:latin typeface="Montserrat"/>
              </a:rPr>
              <a:t>14 / 19</a:t>
            </a:r>
          </a:p>
        </p:txBody>
      </p:sp>
    </p:spTree>
  </p:cSld>
  <p:clrMapOvr>
    <a:masterClrMapping/>
  </p:clrMapOvr>
  <p:transition spd="med" fade="1"/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410913"/>
              </a:gs>
              <a:gs pos="50000">
                <a:srgbClr val="610D1C"/>
              </a:gs>
              <a:gs pos="100000">
                <a:srgbClr val="A2391D"/>
              </a:gs>
            </a:gsLst>
            <a:lin ang="270000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545775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 b="1">
                <a:solidFill>
                  <a:srgbClr val="F4F1EC"/>
                </a:solidFill>
                <a:latin typeface="Tektur"/>
              </a:rPr>
              <a:t>Живое окно</a:t>
            </a:r>
          </a:p>
        </p:txBody>
      </p:sp>
      <p:pic>
        <p:nvPicPr>
          <p:cNvPr id="5" name="Picture 4" descr="screenshot-m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91640"/>
            <a:ext cx="10545775" cy="27080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6035040"/>
            <a:ext cx="1054577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A8A29E"/>
                </a:solidFill>
                <a:latin typeface="Montserrat"/>
              </a:rPr>
              <a:t>Сессии, байты, интерпретация, происхождение и диагностика в одном окне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446520"/>
            <a:ext cx="3840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A8A29E"/>
                </a:solidFill>
                <a:latin typeface="Montserrat"/>
              </a:rPr>
              <a:t>Команда HTTP 418 · кейс #02 · Мадригал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6446520"/>
            <a:ext cx="3383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A8A29E"/>
                </a:solidFill>
                <a:latin typeface="Montserrat"/>
              </a:rPr>
              <a:t>Демонстрация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46520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A8A29E"/>
                </a:solidFill>
                <a:latin typeface="Montserrat"/>
              </a:rPr>
              <a:t>15 / 19</a:t>
            </a:r>
          </a:p>
        </p:txBody>
      </p:sp>
    </p:spTree>
  </p:cSld>
  <p:clrMapOvr>
    <a:masterClrMapping/>
  </p:clrMapOvr>
  <p:transition spd="med" fade="1"/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410913"/>
              </a:gs>
              <a:gs pos="50000">
                <a:srgbClr val="610D1C"/>
              </a:gs>
              <a:gs pos="100000">
                <a:srgbClr val="A2391D"/>
              </a:gs>
            </a:gsLst>
            <a:lin ang="270000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545775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 b="1">
                <a:solidFill>
                  <a:srgbClr val="F4F1EC"/>
                </a:solidFill>
                <a:latin typeface="Tektur"/>
              </a:rPr>
              <a:t>Резерв: запись прогона</a:t>
            </a:r>
          </a:p>
        </p:txBody>
      </p:sp>
      <p:pic>
        <p:nvPicPr>
          <p:cNvPr id="5" name="Picture 4" descr="screencast-po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91640"/>
            <a:ext cx="5852160" cy="329184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6080760" y="4389120"/>
            <a:ext cx="365760" cy="365760"/>
          </a:xfrm>
          <a:prstGeom prst="ellipse">
            <a:avLst/>
          </a:prstGeom>
          <a:solidFill>
            <a:srgbClr val="0E1011"/>
          </a:solidFill>
          <a:ln w="12700">
            <a:solidFill>
              <a:srgbClr val="D060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sosceles Triangle 6"/>
          <p:cNvSpPr/>
          <p:nvPr/>
        </p:nvSpPr>
        <p:spPr>
          <a:xfrm rot="5400000">
            <a:off x="6199632" y="4462272"/>
            <a:ext cx="128016" cy="219456"/>
          </a:xfrm>
          <a:prstGeom prst="triangle">
            <a:avLst/>
          </a:prstGeom>
          <a:solidFill>
            <a:srgbClr val="D06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5394960"/>
            <a:ext cx="1054577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A8A29E"/>
                </a:solidFill>
                <a:latin typeface="JetBrains Mono"/>
              </a:rPr>
              <a:t>Полный прогон референсного исследования · 2:22 · без звука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035040"/>
            <a:ext cx="1054577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>
                <a:solidFill>
                  <a:srgbClr val="A8A29E"/>
                </a:solidFill>
                <a:latin typeface="Montserrat"/>
              </a:rPr>
              <a:t>Играется, если живое окно не поднимется на защите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446520"/>
            <a:ext cx="3840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A8A29E"/>
                </a:solidFill>
                <a:latin typeface="Montserrat"/>
              </a:rPr>
              <a:t>Команда HTTP 418 · кейс #02 · Мадригал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6446520"/>
            <a:ext cx="3383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A8A29E"/>
                </a:solidFill>
                <a:latin typeface="Montserrat"/>
              </a:rPr>
              <a:t>Демонстрация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0" y="6446520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A8A29E"/>
                </a:solidFill>
                <a:latin typeface="Montserrat"/>
              </a:rPr>
              <a:t>16 / 19</a:t>
            </a:r>
          </a:p>
        </p:txBody>
      </p:sp>
    </p:spTree>
  </p:cSld>
  <p:clrMapOvr>
    <a:masterClrMapping/>
  </p:clrMapOvr>
  <p:transition spd="med" fade="1"/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410913"/>
              </a:gs>
              <a:gs pos="50000">
                <a:srgbClr val="610D1C"/>
              </a:gs>
              <a:gs pos="100000">
                <a:srgbClr val="A2391D"/>
              </a:gs>
            </a:gsLst>
            <a:lin ang="270000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4577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7200" b="1">
                <a:solidFill>
                  <a:srgbClr val="D0603A"/>
                </a:solidFill>
                <a:latin typeface="Tektur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00400"/>
            <a:ext cx="1054577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 b="1">
                <a:solidFill>
                  <a:srgbClr val="F4F1EC"/>
                </a:solidFill>
                <a:latin typeface="Tektur"/>
              </a:rPr>
              <a:t>Границы и итог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4206240"/>
            <a:ext cx="3108960" cy="82296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410913"/>
              </a:gs>
              <a:gs pos="50000">
                <a:srgbClr val="610D1C"/>
              </a:gs>
              <a:gs pos="100000">
                <a:srgbClr val="A2391D"/>
              </a:gs>
            </a:gsLst>
            <a:lin ang="270000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480560"/>
            <a:ext cx="1054577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0">
                <a:solidFill>
                  <a:srgbClr val="A8A29E"/>
                </a:solidFill>
                <a:latin typeface="Montserrat"/>
              </a:rPr>
              <a:t>Что мы не утверждаем и что осталось за рамками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446520"/>
            <a:ext cx="3840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A8A29E"/>
                </a:solidFill>
                <a:latin typeface="Montserrat"/>
              </a:rPr>
              <a:t>Команда HTTP 418 · кейс #02 · Мадригал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6446520"/>
            <a:ext cx="3383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A8A29E"/>
                </a:solidFill>
                <a:latin typeface="Montserrat"/>
              </a:rPr>
              <a:t>Границы и итог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6446520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A8A29E"/>
                </a:solidFill>
                <a:latin typeface="Montserrat"/>
              </a:rPr>
              <a:t>17 / 19</a:t>
            </a:r>
          </a:p>
        </p:txBody>
      </p:sp>
    </p:spTree>
  </p:cSld>
  <p:clrMapOvr>
    <a:masterClrMapping/>
  </p:clrMapOvr>
  <p:transition spd="med" fade="1"/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410913"/>
              </a:gs>
              <a:gs pos="50000">
                <a:srgbClr val="610D1C"/>
              </a:gs>
              <a:gs pos="100000">
                <a:srgbClr val="A2391D"/>
              </a:gs>
            </a:gsLst>
            <a:lin ang="270000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545775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 b="1">
                <a:solidFill>
                  <a:srgbClr val="F4F1EC"/>
                </a:solidFill>
                <a:latin typeface="Tektur"/>
              </a:rPr>
              <a:t>Что мы не утверждаем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74520"/>
            <a:ext cx="5044287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700" b="0">
                <a:solidFill>
                  <a:srgbClr val="F4F1EC"/>
                </a:solidFill>
                <a:latin typeface="Montserrat"/>
              </a:rPr>
              <a:t>•  Смысл байта флагов не установлен: в корпусе он постоянен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88920"/>
            <a:ext cx="5044287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700" b="0">
                <a:solidFill>
                  <a:srgbClr val="F4F1EC"/>
                </a:solidFill>
                <a:latin typeface="Montserrat"/>
              </a:rPr>
              <a:t>•  Поле значения остаётся гипотезой, а не фактом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1874520"/>
            <a:ext cx="5044287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700" b="0">
                <a:solidFill>
                  <a:srgbClr val="F4F1EC"/>
                </a:solidFill>
                <a:latin typeface="Montserrat"/>
              </a:rPr>
              <a:t>•  Альтернативные чтения берутся из заданного набора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2788920"/>
            <a:ext cx="5044287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700" b="0">
                <a:solidFill>
                  <a:srgbClr val="F4F1EC"/>
                </a:solidFill>
                <a:latin typeface="Montserrat"/>
              </a:rPr>
              <a:t>•  Интерпретация верна для проверенных захватов и молчит вне них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446520"/>
            <a:ext cx="3840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000" b="0">
                <a:solidFill>
                  <a:srgbClr val="A8A29E"/>
                </a:solidFill>
                <a:latin typeface="Montserrat"/>
              </a:rPr>
              <a:t>Команда HTTP 418 · кейс #02 · Мадригал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6446520"/>
            <a:ext cx="3383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A8A29E"/>
                </a:solidFill>
                <a:latin typeface="Montserrat"/>
              </a:rPr>
              <a:t>Границы и итог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38160" y="6446520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A8A29E"/>
                </a:solidFill>
                <a:latin typeface="Montserrat"/>
              </a:rPr>
              <a:t>18 / 19</a:t>
            </a:r>
          </a:p>
        </p:txBody>
      </p:sp>
    </p:spTree>
  </p:cSld>
  <p:clrMapOvr>
    <a:masterClrMapping/>
  </p:clrMapOvr>
  <p:transition spd="med" fade="1"/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410913"/>
              </a:gs>
              <a:gs pos="50000">
                <a:srgbClr val="610D1C"/>
              </a:gs>
              <a:gs pos="100000">
                <a:srgbClr val="A2391D"/>
              </a:gs>
            </a:gsLst>
            <a:lin ang="270000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1036289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>
                <a:solidFill>
                  <a:srgbClr val="F4F1EC"/>
                </a:solidFill>
                <a:latin typeface="Tektur"/>
              </a:rPr>
              <a:t>Инструмент превращает байты в проверяемое знание</a:t>
            </a:r>
          </a:p>
        </p:txBody>
      </p:sp>
      <p:pic>
        <p:nvPicPr>
          <p:cNvPr id="5" name="Picture 4" descr="qr_re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8207" y="2834640"/>
            <a:ext cx="1371600" cy="1371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843887" y="4343400"/>
            <a:ext cx="1920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A8A29E"/>
                </a:solidFill>
                <a:latin typeface="Montserrat"/>
              </a:rPr>
              <a:t>Репозиторий</a:t>
            </a:r>
          </a:p>
        </p:txBody>
      </p:sp>
      <p:pic>
        <p:nvPicPr>
          <p:cNvPr id="7" name="Picture 6" descr="qr_relea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2767" y="2834640"/>
            <a:ext cx="1371600" cy="1371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038447" y="4343400"/>
            <a:ext cx="1920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A8A29E"/>
                </a:solidFill>
                <a:latin typeface="Montserrat"/>
              </a:rPr>
              <a:t>Релиз v1.0.0</a:t>
            </a:r>
          </a:p>
        </p:txBody>
      </p:sp>
      <p:pic>
        <p:nvPicPr>
          <p:cNvPr id="9" name="Picture 8" descr="qr_telegram_pash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7327" y="2834640"/>
            <a:ext cx="1371600" cy="1371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33007" y="4343400"/>
            <a:ext cx="1920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A8A29E"/>
                </a:solidFill>
                <a:latin typeface="Montserrat"/>
              </a:rPr>
              <a:t>@Pasha1778</a:t>
            </a:r>
          </a:p>
        </p:txBody>
      </p:sp>
      <p:pic>
        <p:nvPicPr>
          <p:cNvPr id="11" name="Picture 10" descr="qr_telegram_nikit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01887" y="2834640"/>
            <a:ext cx="1371600" cy="13716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427567" y="4343400"/>
            <a:ext cx="1920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A8A29E"/>
                </a:solidFill>
                <a:latin typeface="Montserrat"/>
              </a:rPr>
              <a:t>@petruan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29200"/>
            <a:ext cx="103628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>
                <a:solidFill>
                  <a:srgbClr val="A8A29E"/>
                </a:solidFill>
                <a:latin typeface="JetBrains Mono"/>
                <a:hlinkClick r:id="rId6"/>
              </a:rPr>
              <a:t>github.com/Pavel1778/madrigal-protocol-lab</a:t>
            </a:r>
          </a:p>
        </p:txBody>
      </p:sp>
    </p:spTree>
  </p:cSld>
  <p:clrMapOvr>
    <a:masterClrMapping/>
  </p:clrMapOvr>
  <p:transition spd="med" fade="1"/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Montserra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ontserra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