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Восстановление недокументированного протокола поверх TCP.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 HTTP 418.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 и на релиз v1.0.0.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hyperlink" Target="https://github.com/Pavel1778/madrigal-protocol-lab" TargetMode="Externa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m-ava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40280"/>
            <a:ext cx="219456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337560" y="2377440"/>
            <a:ext cx="885413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0">
                <a:solidFill>
                  <a:srgbClr val="E8E6E3"/>
                </a:solidFill>
                <a:latin typeface="Inter"/>
              </a:rPr>
              <a:t>Лаборатория протоколов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3566160"/>
            <a:ext cx="8854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Inter"/>
              </a:rPr>
              <a:t>Команда HTTP 418 · UMIRHack 2026 · кейс #02 · Мадригал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Нас двое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2064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E8E6E3"/>
                </a:solidFill>
                <a:latin typeface="Inter"/>
              </a:rPr>
              <a:t>•  </a:t>
            </a:r>
            <a:r>
              <a:rPr sz="1700" b="1">
                <a:solidFill>
                  <a:srgbClr val="FFFFFF"/>
                </a:solidFill>
                <a:latin typeface="Inter"/>
              </a:rPr>
              <a:t>Сабадаш Павел</a:t>
            </a:r>
            <a:r>
              <a:rPr sz="1700" b="0">
                <a:solidFill>
                  <a:srgbClr val="E8E6E3"/>
                </a:solidFill>
                <a:latin typeface="Inter"/>
              </a:rPr>
              <a:t> — архитектура, захват, интерфейс · @Pasha1778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E8E6E3"/>
                </a:solidFill>
                <a:latin typeface="Inter"/>
              </a:rPr>
              <a:t>•  </a:t>
            </a:r>
            <a:r>
              <a:rPr sz="1700" b="1">
                <a:solidFill>
                  <a:srgbClr val="FFFFFF"/>
                </a:solidFill>
                <a:latin typeface="Inter"/>
              </a:rPr>
              <a:t>Предков Никита</a:t>
            </a:r>
            <a:r>
              <a:rPr sz="1700" b="0">
                <a:solidFill>
                  <a:srgbClr val="E8E6E3"/>
                </a:solidFill>
                <a:latin typeface="Inter"/>
              </a:rPr>
              <a:t> — правила, тесты · @petruan</a:t>
            </a:r>
          </a:p>
        </p:txBody>
      </p:sp>
      <p:pic>
        <p:nvPicPr>
          <p:cNvPr id="6" name="Picture 5" descr="team-ava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393192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82009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0">
                <a:solidFill>
                  <a:srgbClr val="E8E6E3"/>
                </a:solidFill>
                <a:latin typeface="Inter"/>
              </a:rPr>
              <a:t>TCP разрезает сообщения посередине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A8A29E"/>
                </a:solidFill>
                <a:latin typeface="Inter"/>
              </a:rPr>
              <a:t>Границы пакета и границы сообщения — разные вещи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Дано и требуется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20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8E6E3"/>
                </a:solidFill>
                <a:latin typeface="Inter"/>
              </a:rPr>
              <a:t>•  Захваты pcap/pcapng и журнал действий устройства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8E6E3"/>
                </a:solidFill>
                <a:latin typeface="Inter"/>
              </a:rPr>
              <a:t>•  Спецификации протокола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600200"/>
            <a:ext cx="524225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8E6E3"/>
                </a:solidFill>
                <a:latin typeface="Inter"/>
              </a:rPr>
              <a:t>•  Проверяемая интерпретация структуры сообщений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286000"/>
            <a:ext cx="524225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8E6E3"/>
                </a:solidFill>
                <a:latin typeface="Inter"/>
              </a:rPr>
              <a:t>•  Видно, где чтение верно, а где перестаёт работать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194560"/>
            <a:ext cx="54864" cy="219456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111401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0">
                <a:solidFill>
                  <a:srgbClr val="E8E6E3"/>
                </a:solidFill>
                <a:latin typeface="Inter"/>
              </a:rPr>
              <a:t>Первые дни мы не понимали, где у протокола длина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566160"/>
            <a:ext cx="111401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A8A29E"/>
                </a:solidFill>
                <a:latin typeface="Inter"/>
              </a:rPr>
              <a:t>Смещение поля длины оказалось на четыре байта позже, чем мы считали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Три модуля связаны форматами, а не вызовами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0820095" cy="38334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700" fill="hold"/>
                            <p:tgtEl>
                              <p:spTgt spid="5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Каждый байт знает свой пакет</a:t>
            </a:r>
          </a:p>
        </p:txBody>
      </p:sp>
      <p:pic>
        <p:nvPicPr>
          <p:cNvPr id="5" name="Picture 4" descr="09_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99008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8A29E"/>
                </a:solidFill>
                <a:latin typeface="Inter"/>
              </a:rPr>
              <a:t>Клик по байту: packet 3 · seq 1001 · ts 1700000000.004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7 / 19</a:t>
            </a:r>
          </a:p>
        </p:txBody>
      </p:sp>
    </p:spTree>
  </p:cSld>
  <p:clrMapOvr>
    <a:masterClrMapping/>
  </p:clrMapOvr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07_rule_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227167" cy="2940281"/>
          </a:xfrm>
          <a:prstGeom prst="rect">
            <a:avLst/>
          </a:prstGeom>
        </p:spPr>
      </p:pic>
      <p:pic>
        <p:nvPicPr>
          <p:cNvPr id="6" name="Picture 5" descr="05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600200"/>
            <a:ext cx="5227167" cy="29402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8A29E"/>
                </a:solidFill>
                <a:latin typeface="Inter"/>
              </a:rPr>
              <a:t>Одно правило описывает весь поток; сообщения не перечисляют вручную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Контрпример важнее метрики</a:t>
            </a:r>
          </a:p>
        </p:txBody>
      </p:sp>
      <p:pic>
        <p:nvPicPr>
          <p:cNvPr id="5" name="Picture 4" descr="05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303520" cy="29832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20840" y="1965960"/>
            <a:ext cx="4785055" cy="1828800"/>
          </a:xfrm>
          <a:prstGeom prst="rect">
            <a:avLst/>
          </a:prstGeom>
          <a:solidFill>
            <a:srgbClr val="171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2148840"/>
            <a:ext cx="43278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D0603A"/>
                </a:solidFill>
                <a:latin typeface="JetBrains Mono"/>
              </a:rPr>
              <a:t>02 00 00 03 13 00 55</a:t>
            </a:r>
          </a:p>
          <a:p>
            <a:r>
              <a:rPr sz="1400" b="0">
                <a:solidFill>
                  <a:srgbClr val="A8A29E"/>
                </a:solidFill>
                <a:latin typeface="Inter"/>
              </a:rPr>
              <a:t>Команда 2 не входила в ожидаемый набор 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8A29E"/>
                </a:solidFill>
                <a:latin typeface="Inter"/>
              </a:rPr>
              <a:t>Один такой байт превратил 80 контрпримеров в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9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8200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D0603A"/>
                </a:solidFill>
                <a:latin typeface="JetBrains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0">
                <a:solidFill>
                  <a:srgbClr val="E8E6E3"/>
                </a:solidFill>
                <a:latin typeface="Inter"/>
              </a:rPr>
              <a:t>Что получилось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0"/>
            <a:ext cx="2926080" cy="64008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A8A29E"/>
                </a:solidFill>
                <a:latin typeface="Inter"/>
              </a:rPr>
              <a:t>Точность правила: 0.43 → 1.00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86000"/>
            <a:ext cx="1082009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0" b="1">
                <a:solidFill>
                  <a:srgbClr val="D0603A"/>
                </a:solidFill>
                <a:latin typeface="Inter"/>
              </a:rPr>
              <a:t>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E8E6E3"/>
                </a:solidFill>
                <a:latin typeface="Inter"/>
              </a:rPr>
              <a:t>Было 60 matched и 80 mismatched. Стало 140 matched и ноль контрпримеров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11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A8A29E"/>
                </a:solidFill>
                <a:latin typeface="Inter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86000"/>
            <a:ext cx="1082009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0" b="1">
                <a:solidFill>
                  <a:srgbClr val="D0603A"/>
                </a:solidFill>
                <a:latin typeface="Inter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E8E6E3"/>
                </a:solidFill>
                <a:latin typeface="Inter"/>
              </a:rPr>
              <a:t>45 запросов и 45 ответов, все matched, покрытие байтов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A8A29E"/>
                </a:solidFill>
                <a:latin typeface="Inter"/>
              </a:rPr>
              <a:t>95 МиБ разбираются за 12 секунд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86000"/>
            <a:ext cx="1082009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0" b="1">
                <a:solidFill>
                  <a:srgbClr val="D0603A"/>
                </a:solidFill>
                <a:latin typeface="Inter"/>
              </a:rPr>
              <a:t>12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>
                <a:solidFill>
                  <a:srgbClr val="E8E6E3"/>
                </a:solidFill>
                <a:latin typeface="Inter"/>
              </a:rPr>
              <a:t>250 000 пакетов, 1000 сессий, 4 vCPU. Пик памяти 350 МиБ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8200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D0603A"/>
                </a:solidFill>
                <a:latin typeface="JetBrains Mono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0">
                <a:solidFill>
                  <a:srgbClr val="E8E6E3"/>
                </a:solidFill>
                <a:latin typeface="Inter"/>
              </a:rPr>
              <a:t>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0"/>
            <a:ext cx="2926080" cy="64008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Живое окно</a:t>
            </a:r>
          </a:p>
        </p:txBody>
      </p:sp>
      <p:pic>
        <p:nvPicPr>
          <p:cNvPr id="5" name="Picture 4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99008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8A29E"/>
                </a:solidFill>
                <a:latin typeface="Inter"/>
              </a:rPr>
              <a:t>Сессии, байты, интерпретация, происхождение и диагностика в одном окне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  <p:transition spd="med" fade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Запись прогона на случай, если экран не поднимется</a:t>
            </a:r>
          </a:p>
        </p:txBody>
      </p:sp>
      <p:pic>
        <p:nvPicPr>
          <p:cNvPr id="5" name="Picture 4" descr="02_se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99008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A8A29E"/>
                </a:solidFill>
                <a:latin typeface="Inter"/>
              </a:rPr>
              <a:t>Четыре минуты: шесть сцен референсного исследования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  <p:transition spd="med" fade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8200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0">
                <a:solidFill>
                  <a:srgbClr val="D0603A"/>
                </a:solidFill>
                <a:latin typeface="JetBrains Mono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0">
                <a:solidFill>
                  <a:srgbClr val="E8E6E3"/>
                </a:solidFill>
                <a:latin typeface="Inter"/>
              </a:rPr>
              <a:t>Границы и итог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97680"/>
            <a:ext cx="2926080" cy="64008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820095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E8E6E3"/>
                </a:solidFill>
                <a:latin typeface="Inter"/>
              </a:rPr>
              <a:t>Что мы не утверждаем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20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8E6E3"/>
                </a:solidFill>
                <a:latin typeface="Inter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120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8E6E3"/>
                </a:solidFill>
                <a:latin typeface="Inter"/>
              </a:rPr>
              <a:t>•  Поле значения остаётся гипотезой, а не фактом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600200"/>
            <a:ext cx="524225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8E6E3"/>
                </a:solidFill>
                <a:latin typeface="Inter"/>
              </a:rPr>
              <a:t>•  Альтернативные чтения берутся из заданного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286000"/>
            <a:ext cx="5242255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E8E6E3"/>
                </a:solidFill>
                <a:latin typeface="Inter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06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E8E6E3"/>
                </a:solidFill>
                <a:latin typeface="Inter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727" y="3200400"/>
            <a:ext cx="1463040" cy="1463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26967" y="475488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Inter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927" y="3200400"/>
            <a:ext cx="1463040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70167" y="475488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Inter"/>
              </a:rPr>
              <a:t>Релиз v1.0.0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>
                <a:solidFill>
                  <a:srgbClr val="A8A29E"/>
                </a:solidFill>
                <a:latin typeface="JetBrains Mono"/>
                <a:hlinkClick r:id="rId4"/>
              </a:rPr>
              <a:t>github.com/Pavel1778/madrigal-protocol-lab · @Pasha1778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A8A29E"/>
                </a:solidFill>
                <a:latin typeface="Inter"/>
              </a:rPr>
              <a:t>Команда HTTP 418 · кейс #02 · Мадригал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A8A29E"/>
                </a:solidFill>
                <a:latin typeface="Inter"/>
              </a:rPr>
              <a:t>19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