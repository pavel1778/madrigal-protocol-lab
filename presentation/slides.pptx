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EDEDED"/>
                </a:solidFill>
                <a:latin typeface="Montserrat"/>
              </a:rPr>
              <a:t>Лаборатория протоколов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DEDED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B8B8B8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377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am-avatar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574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10312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EDEDED"/>
                </a:solidFill>
                <a:latin typeface="Montserrat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5176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10896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2391D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647" y="2194560"/>
            <a:ext cx="1097280" cy="1097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377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m-avatar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7" y="205740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10312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EDEDED"/>
                </a:solidFill>
                <a:latin typeface="Montserrat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5176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10896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2391D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7135" y="2194560"/>
            <a:ext cx="109728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UMIRHack 2026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A2391D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EDEDED"/>
                </a:solidFill>
                <a:latin typeface="Montserrat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B8B8B8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32918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32918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Захваты pcap/pcapng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32918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32918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A2391D"/>
                </a:solidFill>
                <a:latin typeface="Montserrat"/>
              </a:rPr>
              <a:t>ХОД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EDEDED"/>
                </a:solidFill>
                <a:latin typeface="Montserrat"/>
              </a:rPr>
              <a:t>Смещение поля длины оказалось на четыре байта позже, чем мы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B8B8B8"/>
                </a:solidFill>
                <a:latin typeface="Montserrat"/>
              </a:rPr>
              <a:t>Одно правило, два чтения: поле длины остаётся на offset 2</a:t>
            </a:r>
          </a:p>
        </p:txBody>
      </p:sp>
      <p:pic>
        <p:nvPicPr>
          <p:cNvPr id="7" name="Picture 6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264209" cy="2011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1554480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наблюдение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5029200"/>
            <a:ext cx="1554480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07492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гипотеза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5029200"/>
            <a:ext cx="1554480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07492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5029200"/>
            <a:ext cx="1554480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507492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контрпример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5029200"/>
            <a:ext cx="1554480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507492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уточнение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EDEDED"/>
                </a:solidFill>
                <a:latin typeface="Montserrat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B8B8B8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2391D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EDEDED"/>
                </a:solidFill>
                <a:latin typeface="Montserrat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B8B8B8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2391D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EDEDED"/>
                </a:solidFill>
                <a:latin typeface="Montserrat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B8B8B8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Каждый байт знает свой пакет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85216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8562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ПРОИСХОЖДЕНИЕ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1945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Клик по байту связывает его с пакетом, номером последовательности и временем.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45720" cy="12344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918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packet 3 · seq 1001 · ts 1700000000.004, сессия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2122714" cy="356616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1643829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Одно правило описывает весь поток; сообщения не перечисляют вручную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Контрпример важнее метрики</a:t>
            </a:r>
          </a:p>
        </p:txBody>
      </p:sp>
      <p:pic>
        <p:nvPicPr>
          <p:cNvPr id="5" name="Picture 4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770278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Все 80 несоответствий v1 сидели на offset 0 в сессиях s2 и s3.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A2391D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EDEDED"/>
                </a:solidFill>
                <a:latin typeface="Montserrat"/>
              </a:rPr>
              <a:t>Что получилось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Montserrat"/>
              </a:rPr>
              <a:t>Точность, покрытие корпуса организаторов, ресурсы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10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B8B8B8"/>
                </a:solidFill>
                <a:latin typeface="Montserrat"/>
              </a:rPr>
              <a:t>Уточнили правило: 60/140 → 140/140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A2391D"/>
                </a:solidFill>
                <a:latin typeface="Montserrat"/>
              </a:rPr>
              <a:t>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EDEDED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JetBrains Mono"/>
              </a:rPr>
              <a:t>v1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2606040"/>
            <a:ext cx="3230575" cy="292608"/>
          </a:xfrm>
          <a:prstGeom prst="rect">
            <a:avLst/>
          </a:prstGeom>
          <a:solidFill>
            <a:srgbClr val="26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2606040"/>
            <a:ext cx="1389147" cy="292608"/>
          </a:xfrm>
          <a:prstGeom prst="rect">
            <a:avLst/>
          </a:prstGeom>
          <a:solidFill>
            <a:srgbClr val="8E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2895" y="256032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>
                <a:solidFill>
                  <a:srgbClr val="EDEDED"/>
                </a:solidFill>
                <a:latin typeface="Montserrat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6616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JetBrains Mono"/>
              </a:rPr>
              <a:t>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3611880"/>
            <a:ext cx="3230575" cy="292608"/>
          </a:xfrm>
          <a:prstGeom prst="rect">
            <a:avLst/>
          </a:prstGeom>
          <a:solidFill>
            <a:srgbClr val="26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3611880"/>
            <a:ext cx="3230575" cy="2926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2895" y="356616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>
                <a:solidFill>
                  <a:srgbClr val="EDEDED"/>
                </a:solidFill>
                <a:latin typeface="Montserrat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0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6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B8B8B8"/>
                </a:solidFill>
                <a:latin typeface="Montserrat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A2391D"/>
                </a:solidFill>
                <a:latin typeface="Montserrat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EDEDED"/>
                </a:solidFill>
                <a:latin typeface="Montserrat"/>
              </a:rPr>
              <a:t>45 запросов и 45 ответов, все matched, покрытие байтов 100 %</a:t>
            </a:r>
          </a:p>
        </p:txBody>
      </p:sp>
      <p:pic>
        <p:nvPicPr>
          <p:cNvPr id="7" name="Picture 6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4295038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B8B8B8"/>
                </a:solidFill>
                <a:latin typeface="Montserrat"/>
              </a:rPr>
              <a:t>95 МиБ разбираются за 12 секунд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A2391D"/>
                </a:solidFill>
                <a:latin typeface="Montserrat"/>
              </a:rPr>
              <a:t>12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EDEDED"/>
                </a:solidFill>
                <a:latin typeface="Montserrat"/>
              </a:rPr>
              <a:t>Условия замера: 95.66 МиБ, 250 000 пакетов, 1000 сессий, 4 vCPU / 16 ГиБ</a:t>
            </a:r>
          </a:p>
        </p:txBody>
      </p:sp>
      <p:pic>
        <p:nvPicPr>
          <p:cNvPr id="7" name="Picture 6" descr="memor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4967935" cy="3069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A2391D"/>
                </a:solidFill>
                <a:latin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EDEDED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Montserrat"/>
              </a:rPr>
              <a:t>Живое окно и запись прогона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Живое окно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9240252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Сессии, байты, интерпретация, происхождение и диагностика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Запись прогона на случай, если экран не поднимется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9240252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Четыре минуты: шесть сцен референсного исследования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A2391D"/>
                </a:solidFill>
                <a:latin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EDEDED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Montserrat"/>
              </a:rPr>
              <a:t>Что мы не утверждаем и что осталось за рамками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Что мы не утверждаем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EDEDED"/>
                </a:solidFill>
                <a:latin typeface="Montserrat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B8B8B8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