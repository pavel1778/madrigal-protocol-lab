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Tektur"/>
      <p:regular r:id="rId22" fontKey="{27E04CAF-4F9E-C315-3E78-7ADC5AE0D597}"/>
      <p:bold r:id="rId23" fontKey="{A12660F0-7690-25AC-9BE9-6509C0A8B2A5}"/>
    </p:embeddedFont>
    <p:embeddedFont>
      <p:font typeface="Montserrat"/>
      <p:regular r:id="rId24" fontKey="{3547397D-CEC3-B89A-5FB5-020C9CB6E4DD}"/>
      <p:bold r:id="rId25" fontKey="{0CB8D5B1-66EF-C706-0E19-6341EC3D8E46}"/>
    </p:embeddedFont>
    <p:embeddedFont>
      <p:font typeface="JetBrains Mono"/>
      <p:regular r:id="rId26" fontKey="{C6EB8399-2A56-D694-A331-105094B34A55}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Приветствие, 20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человека, разделение ролей, QR на контакт у каждого.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 ведут на репозиторий, релиз и контакты.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github.com/Pavel1778/madrigal-protocol-lab" TargetMode="External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120700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JetBrains Mono"/>
              </a:rPr>
              <a:t>MADRIGAL-PROTOCOL-LAB</a:t>
            </a:r>
          </a:p>
        </p:txBody>
      </p:sp>
      <p:pic>
        <p:nvPicPr>
          <p:cNvPr id="6" name="Picture 5" descr="madrigal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255" y="1188720"/>
            <a:ext cx="15544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105457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5600" b="1">
                <a:solidFill>
                  <a:srgbClr val="F4F1EC"/>
                </a:solidFill>
                <a:latin typeface="Tektur"/>
              </a:rPr>
              <a:t>Лаборатория протоколов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F4F1EC"/>
                </a:solidFill>
                <a:latin typeface="Montserrat"/>
              </a:rPr>
              <a:t>Восстановление недокументированного бинарного протокола поверх TCP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43400"/>
            <a:ext cx="2194560" cy="64008"/>
          </a:xfrm>
          <a:prstGeom prst="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A8A29E"/>
                </a:solidFill>
                <a:latin typeface="JetBrains Mono"/>
              </a:rPr>
              <a:t>UMIRHack 2026 · кейс #02 · Мадригал · команда HTTP 418</a:t>
            </a:r>
          </a:p>
        </p:txBody>
      </p:sp>
    </p:spTree>
  </p:cSld>
  <p:clrMapOvr>
    <a:masterClrMapping/>
  </p:clrMapOvr>
  <p:transition spd="med" fade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Нас двое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5044287" cy="246888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vatar_pavel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57400"/>
            <a:ext cx="1645920" cy="1645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71800" y="2148840"/>
            <a:ext cx="17524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1">
                <a:solidFill>
                  <a:srgbClr val="F4F1EC"/>
                </a:solidFill>
                <a:latin typeface="Tektur"/>
              </a:rPr>
              <a:t>Сабадаш Павел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697480"/>
            <a:ext cx="17524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Архитектура · захват · интерфейс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154680"/>
            <a:ext cx="1752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D0603A"/>
                </a:solidFill>
                <a:latin typeface="JetBrains Mono"/>
              </a:rPr>
              <a:t>@Pasha1778</a:t>
            </a:r>
          </a:p>
        </p:txBody>
      </p:sp>
      <p:pic>
        <p:nvPicPr>
          <p:cNvPr id="10" name="Picture 9" descr="qr_telegram_pas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687" y="2148840"/>
            <a:ext cx="758952" cy="75895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24447" y="1691640"/>
            <a:ext cx="5044287" cy="246888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vatar_nikita_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7" y="2057400"/>
            <a:ext cx="1645920" cy="1645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3287" y="2148840"/>
            <a:ext cx="17524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1">
                <a:solidFill>
                  <a:srgbClr val="F4F1EC"/>
                </a:solidFill>
                <a:latin typeface="Tektur"/>
              </a:rPr>
              <a:t>Предков Никита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3287" y="2697480"/>
            <a:ext cx="17524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Правила · тесты · ревью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87" y="3154680"/>
            <a:ext cx="17524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D0603A"/>
                </a:solidFill>
                <a:latin typeface="JetBrains Mono"/>
              </a:rPr>
              <a:t>@petruan</a:t>
            </a:r>
          </a:p>
        </p:txBody>
      </p:sp>
      <p:pic>
        <p:nvPicPr>
          <p:cNvPr id="16" name="Picture 15" descr="qr_telegram_nik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175" y="2148840"/>
            <a:ext cx="758952" cy="7589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300" fill="hold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0603A"/>
                </a:solidFill>
                <a:latin typeface="Montserrat"/>
              </a:rPr>
              <a:t>ПОСТАНОВКА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4F1EC"/>
                </a:solidFill>
                <a:latin typeface="Tektur"/>
              </a:rPr>
              <a:t>TCP разрезает сообщения посередине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A8A29E"/>
                </a:solidFill>
                <a:latin typeface="Montserrat"/>
              </a:rPr>
              <a:t>Границы пакета и границы сообщения — разные вещи</a:t>
            </a:r>
          </a:p>
        </p:txBody>
      </p:sp>
      <p:pic>
        <p:nvPicPr>
          <p:cNvPr id="7" name="Picture 6" descr="tcp_fr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0"/>
            <a:ext cx="6539127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3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Дано и требуется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5044287" cy="329184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45720" cy="3291840"/>
          </a:xfrm>
          <a:prstGeom prst="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65960"/>
            <a:ext cx="44042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0603A"/>
                </a:solidFill>
                <a:latin typeface="Montserrat"/>
              </a:rPr>
              <a:t>ДАНО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440420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Захваты </a:t>
            </a:r>
            <a:r>
              <a:rPr sz="1500">
                <a:solidFill>
                  <a:srgbClr val="D0603A"/>
                </a:solidFill>
                <a:latin typeface="JetBrains Mono"/>
              </a:rPr>
              <a:t>pcap</a:t>
            </a:r>
            <a:r>
              <a:rPr sz="1700" b="0">
                <a:solidFill>
                  <a:srgbClr val="F4F1EC"/>
                </a:solidFill>
                <a:latin typeface="Montserrat"/>
              </a:rPr>
              <a:t>/</a:t>
            </a:r>
            <a:r>
              <a:rPr sz="1500">
                <a:solidFill>
                  <a:srgbClr val="D0603A"/>
                </a:solidFill>
                <a:latin typeface="JetBrains Mono"/>
              </a:rPr>
              <a:t>pcapng</a:t>
            </a:r>
            <a:r>
              <a:rPr sz="1700" b="0">
                <a:solidFill>
                  <a:srgbClr val="F4F1EC"/>
                </a:solidFill>
                <a:latin typeface="Montserrat"/>
              </a:rPr>
              <a:t> и журнал действий устройства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91840"/>
            <a:ext cx="440420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Спецификации протокола нет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4447" y="1691640"/>
            <a:ext cx="5044287" cy="329184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1691640"/>
            <a:ext cx="45720" cy="3291840"/>
          </a:xfrm>
          <a:prstGeom prst="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1965960"/>
            <a:ext cx="44042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0603A"/>
                </a:solidFill>
                <a:latin typeface="Montserrat"/>
              </a:rPr>
              <a:t>ТРЕБУЕТСЯ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2468880"/>
            <a:ext cx="440420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Проверяемая интерпретация структуры сообщений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3291840"/>
            <a:ext cx="4404207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Видно, где чтение верно, а где перестаёт работать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3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0603A"/>
                </a:solidFill>
                <a:latin typeface="Montserrat"/>
              </a:rPr>
              <a:t>ХОД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4F1EC"/>
                </a:solidFill>
                <a:latin typeface="Tektur"/>
              </a:rPr>
              <a:t>Смещение поля длины оказалось на четыре байта позже, чем мы считали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A8A29E"/>
                </a:solidFill>
                <a:latin typeface="Montserrat"/>
              </a:rPr>
              <a:t>Одно правило, два чтения: поле длины остаётся на offset 2</a:t>
            </a:r>
          </a:p>
        </p:txBody>
      </p:sp>
      <p:pic>
        <p:nvPicPr>
          <p:cNvPr id="7" name="Picture 6" descr="length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5264209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029200"/>
            <a:ext cx="1643329" cy="384048"/>
          </a:xfrm>
          <a:prstGeom prst="round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64332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наблюдение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3449" y="5029200"/>
            <a:ext cx="1643329" cy="384048"/>
          </a:xfrm>
          <a:prstGeom prst="round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3449" y="5074920"/>
            <a:ext cx="164332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гипотеза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3938" y="5029200"/>
            <a:ext cx="1643329" cy="384048"/>
          </a:xfrm>
          <a:prstGeom prst="round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3938" y="5074920"/>
            <a:ext cx="164332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проверка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427" y="5029200"/>
            <a:ext cx="1643329" cy="384048"/>
          </a:xfrm>
          <a:prstGeom prst="round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4427" y="5074920"/>
            <a:ext cx="164332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контрпример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4916" y="5029200"/>
            <a:ext cx="1643329" cy="384048"/>
          </a:xfrm>
          <a:prstGeom prst="round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4916" y="5074920"/>
            <a:ext cx="164332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уточнение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25405" y="5029200"/>
            <a:ext cx="1643329" cy="384048"/>
          </a:xfrm>
          <a:prstGeom prst="round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5405" y="5074920"/>
            <a:ext cx="164332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повторная проверка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5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300" fill="hold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Три модуля связаны форматами, а не вызовами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167" y="1965960"/>
            <a:ext cx="3200400" cy="201168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5167" y="1965960"/>
            <a:ext cx="45720" cy="2011680"/>
          </a:xfrm>
          <a:prstGeom prst="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22860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4F1EC"/>
                </a:solidFill>
                <a:latin typeface="Tektur"/>
              </a:rPr>
              <a:t>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29260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pcap/pcapng → сессии</a:t>
            </a:r>
          </a:p>
          <a:p>
            <a:r>
              <a:rPr sz="1400" b="0">
                <a:solidFill>
                  <a:srgbClr val="A8A29E"/>
                </a:solidFill>
                <a:latin typeface="Montserrat"/>
              </a:rPr>
              <a:t>reassembly, provenance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5567" y="2743200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0603A"/>
                </a:solidFill>
                <a:latin typeface="JetBrains Mono"/>
              </a:rPr>
              <a:t>JSON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1965960"/>
            <a:ext cx="3200400" cy="201168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5647" y="1965960"/>
            <a:ext cx="45720" cy="2011680"/>
          </a:xfrm>
          <a:prstGeom prst="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22860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4F1EC"/>
                </a:solidFill>
                <a:latin typeface="Tektur"/>
              </a:rPr>
              <a:t>protocol +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29260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правила, фрейминг</a:t>
            </a:r>
          </a:p>
          <a:p>
            <a:r>
              <a:rPr sz="1400" b="0">
                <a:solidFill>
                  <a:srgbClr val="A8A29E"/>
                </a:solidFill>
                <a:latin typeface="Montserrat"/>
              </a:rPr>
              <a:t>контрпримеры, версии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047" y="2743200"/>
            <a:ext cx="640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0603A"/>
                </a:solidFill>
                <a:latin typeface="JetBrains Mono"/>
              </a:rPr>
              <a:t>JSON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6127" y="1965960"/>
            <a:ext cx="3200400" cy="201168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6127" y="1965960"/>
            <a:ext cx="45720" cy="2011680"/>
          </a:xfrm>
          <a:prstGeom prst="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4727" y="22860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4F1EC"/>
                </a:solidFill>
                <a:latin typeface="Tektur"/>
              </a:rP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4727" y="29260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окно PySide6</a:t>
            </a:r>
          </a:p>
          <a:p>
            <a:r>
              <a:rPr sz="1400" b="0">
                <a:solidFill>
                  <a:srgbClr val="A8A29E"/>
                </a:solidFill>
                <a:latin typeface="Montserrat"/>
              </a:rPr>
              <a:t>исследование и просмотр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Контракты между модулями зафиксированы схемами JSON; порядок вызовов не важен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6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300" fill="hold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" dur="300" fill="hold"/>
                            <p:tgtEl>
                              <p:spTgt spid="1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От интерпретации можно вернуться к исходным данным</a:t>
            </a:r>
          </a:p>
        </p:txBody>
      </p:sp>
      <p:pic>
        <p:nvPicPr>
          <p:cNvPr id="5" name="Picture 4" descr="screenshot-prov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8993392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packet 3 · seq 1001 · сессия 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7 / 14</a:t>
            </a:r>
          </a:p>
        </p:txBody>
      </p:sp>
    </p:spTree>
  </p:cSld>
  <p:clrMapOvr>
    <a:masterClrMapping/>
  </p:clrMapOvr>
  <p:transition spd="med" fade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Правило проверяется на всём корпусе сразу</a:t>
            </a:r>
          </a:p>
        </p:txBody>
      </p:sp>
      <p:pic>
        <p:nvPicPr>
          <p:cNvPr id="5" name="Picture 4" descr="screenshot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5044287" cy="1745050"/>
          </a:xfrm>
          <a:prstGeom prst="rect">
            <a:avLst/>
          </a:prstGeom>
        </p:spPr>
      </p:pic>
      <p:pic>
        <p:nvPicPr>
          <p:cNvPr id="6" name="Picture 5" descr="screenshot-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691640"/>
            <a:ext cx="5044287" cy="2668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8 / 14</a:t>
            </a:r>
          </a:p>
        </p:txBody>
      </p:sp>
    </p:spTree>
  </p:cSld>
  <p:clrMapOvr>
    <a:masterClrMapping/>
  </p:clrMapOvr>
  <p:transition spd="med" fade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Контрпример важнее метрики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457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0603A"/>
                </a:solidFill>
                <a:latin typeface="Montserrat"/>
              </a:rPr>
              <a:t>4 НЕЗАВИСИМЫЕ СЕССИИ В КОРПУСЕ + ЖУРНАЛ ДЕЙСТВИЙ УСТРОЙСТВА</a:t>
            </a:r>
          </a:p>
        </p:txBody>
      </p:sp>
      <p:pic>
        <p:nvPicPr>
          <p:cNvPr id="6" name="Picture 5" descr="screenshot-counter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6766560" cy="28520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691640"/>
            <a:ext cx="3322015" cy="123444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91640"/>
            <a:ext cx="45720" cy="1234440"/>
          </a:xfrm>
          <a:prstGeom prst="rect">
            <a:avLst/>
          </a:prstGeom>
          <a:solidFill>
            <a:srgbClr val="D0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920240"/>
            <a:ext cx="28648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1EC"/>
                </a:solidFill>
                <a:latin typeface="Montserrat"/>
              </a:rPr>
              <a:t>02 00 00 03 13 00 55  —  команда 2 вне ожидаемого набора [1]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063240"/>
            <a:ext cx="3322015" cy="1234440"/>
          </a:xfrm>
          <a:prstGeom prst="rect">
            <a:avLst/>
          </a:prstGeom>
          <a:solidFill>
            <a:srgbClr val="1F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3227832"/>
            <a:ext cx="28648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0603A"/>
                </a:solidFill>
                <a:latin typeface="Montserrat"/>
              </a:rPr>
              <a:t>ОДИН БАЙТ — 80 КОНТРПРИМЕРОВ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566160"/>
            <a:ext cx="28648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1EC"/>
                </a:solidFill>
                <a:latin typeface="Montserrat"/>
              </a:rPr>
              <a:t>80 несоответствий v1 — на offset 0 в сессиях s2 и s3.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Значение 2 повторяется в независимых сессиях корпуса и связано с действием «изменить настройку» в журнале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Постановка и метод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9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300" fill="hold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" dur="300" fill="hold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57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>
                <a:solidFill>
                  <a:srgbClr val="F4F1EC"/>
                </a:solidFill>
                <a:latin typeface="Tektur"/>
              </a:rPr>
              <a:t>Что получилось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140 / 140 на корпусе уточнения. Отдельно проверено на наборе организаторов: 45 + 45, precision 1.00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>
                <a:solidFill>
                  <a:srgbClr val="A8A29E"/>
                </a:solidFill>
                <a:latin typeface="JetBrains Mono"/>
              </a:rPr>
              <a:t>v1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4233672"/>
            <a:ext cx="7619695" cy="384048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7360" y="4233672"/>
            <a:ext cx="3276468" cy="3840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39935" y="416052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F4F1EC"/>
                </a:solidFill>
                <a:latin typeface="Tektur"/>
              </a:rPr>
              <a:t>0.43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0">
                <a:solidFill>
                  <a:srgbClr val="A8A29E"/>
                </a:solidFill>
                <a:latin typeface="JetBrains Mono"/>
              </a:rPr>
              <a:t>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5102352"/>
            <a:ext cx="7619695" cy="384048"/>
          </a:xfrm>
          <a:prstGeom prst="rect">
            <a:avLst/>
          </a:prstGeom>
          <a:solidFill>
            <a:srgbClr val="26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37360" y="5102352"/>
            <a:ext cx="7619695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9935" y="502920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800" b="1">
                <a:solidFill>
                  <a:srgbClr val="F4F1EC"/>
                </a:solidFill>
                <a:latin typeface="Tektur"/>
              </a:rPr>
              <a:t>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Было 60 matched из 140 и 80 контрпримеров. Стало 140 matched из 140 и ноль контрпримеров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Результаты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10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300" fill="hold"/>
                            <p:tgtEl>
                              <p:spTgt spid="1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F4F1EC"/>
                </a:solidFill>
                <a:latin typeface="Tektur"/>
              </a:rPr>
              <a:t>95 МиБ разбираются за 12 секунд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0" b="1">
                <a:solidFill>
                  <a:srgbClr val="D0603A"/>
                </a:solidFill>
                <a:latin typeface="Tektur"/>
              </a:rPr>
              <a:t>12 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>
                <a:solidFill>
                  <a:srgbClr val="F4F1EC"/>
                </a:solidFill>
                <a:latin typeface="Montserrat"/>
              </a:rPr>
              <a:t>Пик памяти 350 МиБ — 9% бюджета 4 ГиБ на машине 16 ГиБ</a:t>
            </a:r>
          </a:p>
        </p:txBody>
      </p:sp>
      <p:pic>
        <p:nvPicPr>
          <p:cNvPr id="7" name="Picture 6" descr="memor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11680"/>
            <a:ext cx="4604892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349240"/>
            <a:ext cx="1444752" cy="365760"/>
          </a:xfrm>
          <a:prstGeom prst="roundRect">
            <a:avLst/>
          </a:prstGeom>
          <a:solidFill>
            <a:srgbClr val="26282B"/>
          </a:solidFill>
          <a:ln w="12700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444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4F1EC"/>
                </a:solidFill>
                <a:latin typeface="Montserrat"/>
              </a:rPr>
              <a:t>12 с общее время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5349240"/>
            <a:ext cx="1600200" cy="365760"/>
          </a:xfrm>
          <a:prstGeom prst="roundRect">
            <a:avLst/>
          </a:prstGeom>
          <a:solidFill>
            <a:srgbClr val="26282B"/>
          </a:solidFill>
          <a:ln w="12700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5394960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4F1EC"/>
                </a:solidFill>
                <a:latin typeface="Montserrat"/>
              </a:rPr>
              <a:t>350 МиБ пик памяти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5349240"/>
            <a:ext cx="1133856" cy="365760"/>
          </a:xfrm>
          <a:prstGeom prst="roundRect">
            <a:avLst/>
          </a:prstGeom>
          <a:solidFill>
            <a:srgbClr val="26282B"/>
          </a:solidFill>
          <a:ln w="12700">
            <a:solidFill>
              <a:srgbClr val="262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5394960"/>
            <a:ext cx="11338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4F1EC"/>
                </a:solidFill>
                <a:latin typeface="Montserrat"/>
              </a:rPr>
              <a:t>250k пакетов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Условия замера: 95.66 МиБ, 250 000 пакетов, 1000 сессий, 4 vCPU / 16 ГиБ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Результаты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11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5" dur="300" fill="hold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" presetID="22" presetClass="entr" presetSubtype="8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8" dur="400" fill="hold"/>
                            <p:tgtEl>
                              <p:spTgt spid="7"/>
                            </p:tgtEl>
                            <p:attrNameLst>
                              <p:attrName>ppt_w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 additive="base">
                            <p:cTn id="11" dur="300" fill="hold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</p:seq>
          </p:childTnLst>
        </p:cTn>
      </p:par>
    </p:tnLst>
  </p:timing>
  <p:transition spd="med" fade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0603A"/>
                </a:solidFill>
                <a:latin typeface="Montserrat"/>
              </a:rPr>
              <a:t>ДЕМОНСТРАЦИЯ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Живое окно</a:t>
            </a:r>
          </a:p>
        </p:txBody>
      </p:sp>
      <p:pic>
        <p:nvPicPr>
          <p:cNvPr id="6" name="Picture 5" descr="screenshot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545775" cy="2708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A8A29E"/>
                </a:solidFill>
                <a:latin typeface="Montserrat"/>
              </a:rPr>
              <a:t>Сессии, байты, интерпретация, происхождение и диагностика в одном окне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Демонстрация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12 / 14</a:t>
            </a:r>
          </a:p>
        </p:txBody>
      </p:sp>
    </p:spTree>
  </p:cSld>
  <p:clrMapOvr>
    <a:masterClrMapping/>
  </p:clrMapOvr>
  <p:transition spd="med" fade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>
                <a:solidFill>
                  <a:srgbClr val="F4F1EC"/>
                </a:solidFill>
                <a:latin typeface="Tektur"/>
              </a:rPr>
              <a:t>Что мы не утверждаем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20"/>
            <a:ext cx="504428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Смысл байта флагов не установлен: в корпусе он постоянен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504428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Поле значения остаётся гипотезой, а не фактом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874520"/>
            <a:ext cx="504428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Альтернативные чтения берутся из заданного набора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2788920"/>
            <a:ext cx="5044287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F4F1EC"/>
                </a:solidFill>
                <a:latin typeface="Montserrat"/>
              </a:rPr>
              <a:t>•  Интерпретация верна для проверенных захватов и молчит вне них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A8A29E"/>
                </a:solidFill>
                <a:latin typeface="Montserrat"/>
              </a:rPr>
              <a:t>Команда HTTP 418 · кейс #02 · Мадригал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465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8A29E"/>
                </a:solidFill>
                <a:latin typeface="Montserrat"/>
              </a:rPr>
              <a:t>Границы и итог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64465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8A29E"/>
                </a:solidFill>
                <a:latin typeface="Montserrat"/>
              </a:rPr>
              <a:t>13 / 14</a:t>
            </a:r>
          </a:p>
        </p:txBody>
      </p:sp>
    </p:spTree>
  </p:cSld>
  <p:clrMapOvr>
    <a:masterClrMapping/>
  </p:clrMapOvr>
  <p:transition spd="med" fade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410913"/>
              </a:gs>
              <a:gs pos="50000">
                <a:srgbClr val="610D1C"/>
              </a:gs>
              <a:gs pos="100000">
                <a:srgbClr val="A2391D"/>
              </a:gs>
            </a:gsLst>
            <a:lin ang="27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4F1EC"/>
                </a:solidFill>
                <a:latin typeface="Tektur"/>
              </a:rPr>
              <a:t>Инструмент превращает байты в проверяемое знание</a:t>
            </a:r>
          </a:p>
        </p:txBody>
      </p:sp>
      <p:pic>
        <p:nvPicPr>
          <p:cNvPr id="5" name="Picture 4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207" y="28346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3887" y="43434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8A29E"/>
                </a:solidFill>
                <a:latin typeface="Montserrat"/>
              </a:rPr>
              <a:t>Репозиторий</a:t>
            </a:r>
          </a:p>
        </p:txBody>
      </p:sp>
      <p:pic>
        <p:nvPicPr>
          <p:cNvPr id="7" name="Picture 6" descr="qr_rel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67" y="283464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38447" y="43434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8A29E"/>
                </a:solidFill>
                <a:latin typeface="Montserrat"/>
              </a:rPr>
              <a:t>Релиз v1.0.0</a:t>
            </a:r>
          </a:p>
        </p:txBody>
      </p:sp>
      <p:pic>
        <p:nvPicPr>
          <p:cNvPr id="9" name="Picture 8" descr="qr_telegram_pash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7" y="283464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007" y="43434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8A29E"/>
                </a:solidFill>
                <a:latin typeface="Montserrat"/>
              </a:rPr>
              <a:t>@Pasha1778</a:t>
            </a:r>
          </a:p>
        </p:txBody>
      </p:sp>
      <p:pic>
        <p:nvPicPr>
          <p:cNvPr id="11" name="Picture 10" descr="qr_telegram_nik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887" y="2834640"/>
            <a:ext cx="13716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27567" y="43434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8A29E"/>
                </a:solidFill>
                <a:latin typeface="Montserrat"/>
              </a:rPr>
              <a:t>@petruan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>
                <a:solidFill>
                  <a:srgbClr val="A8A29E"/>
                </a:solidFill>
                <a:latin typeface="JetBrains Mono"/>
                <a:hlinkClick r:id="rId6"/>
              </a:rPr>
              <a:t>github.com/Pavel1778/madrigal-protocol-lab</a:t>
            </a:r>
          </a:p>
        </p:txBody>
      </p:sp>
      <p:pic>
        <p:nvPicPr>
          <p:cNvPr id="14" name="Picture 13" descr="madrigal-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0047" y="5532120"/>
            <a:ext cx="1371600" cy="566928"/>
          </a:xfrm>
          <a:prstGeom prst="rect">
            <a:avLst/>
          </a:prstGeom>
        </p:spPr>
      </p:pic>
    </p:spTree>
  </p:cSld>
  <p:clrMapOvr>
    <a:masterClrMapping/>
  </p:clrMapOvr>
  <p:transition spd="med" fade="1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