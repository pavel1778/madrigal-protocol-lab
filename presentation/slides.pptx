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Восстановление недокументированного бинарного протокола поверх TCP.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HTTP 418: Сабадаш Павел, Предков Никита.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ведёт на репозиторий и на релиз v1.0.0; отчёт 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Pavel1778/madrigal-protocol-lab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011680"/>
            <a:ext cx="1104869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FFFFFF"/>
                </a:solidFill>
                <a:latin typeface="Manrope"/>
              </a:rPr>
              <a:t>Лаборатория протоколов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B8B8B8"/>
                </a:solidFill>
                <a:latin typeface="Inter"/>
              </a:rPr>
              <a:t>Исследование и описание неизвестного сетевого протокола поверх TCP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572000"/>
            <a:ext cx="11048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B8B8B8"/>
                </a:solidFill>
                <a:latin typeface="Inter"/>
              </a:rPr>
              <a:t>Команда HTTP 418 · UMIRHack 2026 · кейс #02 · Мадригал
Python 3.12 · PySide6 · dpkt · pytest · Docker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548640"/>
            <a:ext cx="77724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m-ava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28800"/>
            <a:ext cx="237744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Состав команды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554480"/>
            <a:ext cx="816833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EDEDED"/>
                </a:solidFill>
                <a:latin typeface="Inter"/>
              </a:rPr>
              <a:t>•  </a:t>
            </a:r>
            <a:r>
              <a:rPr sz="1800" b="1">
                <a:solidFill>
                  <a:srgbClr val="FFFFFF"/>
                </a:solidFill>
                <a:latin typeface="Inter"/>
              </a:rPr>
              <a:t>Сабадаш Павел</a:t>
            </a:r>
            <a:r>
              <a:rPr sz="1800" b="0">
                <a:solidFill>
                  <a:srgbClr val="EDEDED"/>
                </a:solidFill>
                <a:latin typeface="Inter"/>
              </a:rPr>
              <a:t> — архитектура, capture, project, report, координация, backend, GUI · @Pasha1778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EDEDED"/>
                </a:solidFill>
                <a:latin typeface="Inter"/>
              </a:rPr>
              <a:t>•  </a:t>
            </a:r>
            <a:r>
              <a:rPr sz="1800" b="1">
                <a:solidFill>
                  <a:srgbClr val="FFFFFF"/>
                </a:solidFill>
                <a:latin typeface="Inter"/>
              </a:rPr>
              <a:t>Предков Никита</a:t>
            </a:r>
            <a:r>
              <a:rPr sz="1800" b="0">
                <a:solidFill>
                  <a:srgbClr val="EDEDED"/>
                </a:solidFill>
                <a:latin typeface="Inter"/>
              </a:rPr>
              <a:t> — backend, правила, тесты · @petruan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21208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https://github.com/Pavel1778/madrigal-protocol-lab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2 / 22</a:t>
            </a:r>
          </a:p>
        </p:txBody>
      </p:sp>
    </p:spTree>
  </p:cSld>
  <p:clrMapOvr>
    <a:masterClrMapping/>
  </p:clrMapOvr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Задача: восстановить протокол, а не угадать его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Дано:</a:t>
            </a:r>
            <a:r>
              <a:rPr sz="1700" b="0">
                <a:solidFill>
                  <a:srgbClr val="EDEDED"/>
                </a:solidFill>
                <a:latin typeface="Inter"/>
              </a:rPr>
              <a:t> захваты (pcap/pcapng) и журнал действий устройства. Спецификации нет.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Нужно:</a:t>
            </a:r>
            <a:r>
              <a:rPr sz="1700" b="0">
                <a:solidFill>
                  <a:srgbClr val="EDEDED"/>
                </a:solidFill>
                <a:latin typeface="Inter"/>
              </a:rPr>
              <a:t> проверяемая интерпретация структуры сообщений.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Отличие:</a:t>
            </a:r>
            <a:r>
              <a:rPr sz="1700" b="0">
                <a:solidFill>
                  <a:srgbClr val="EDEDED"/>
                </a:solidFill>
                <a:latin typeface="Inter"/>
              </a:rPr>
              <a:t> парсер даёт один ответ; здесь видно, где он верен, а где перестаёт работать.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Три вопроса держат доклад: что наблюдалось · где правило работает · почему это чтение.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Выход — переносимая интерпретация с контрпримерами, привязанными к байтам.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Вход: байты + журнал. Выход: интерпретация с контрпримерами.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3 / 22</a:t>
            </a:r>
          </a:p>
        </p:txBody>
      </p:sp>
    </p:spTree>
  </p:cSld>
  <p:clrMapOvr>
    <a:masterClrMapping/>
  </p:clrMapOvr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Подход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4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Три модуля, связанные JSON-контрактами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54480"/>
            <a:ext cx="11048695" cy="39143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Контракты зафиксированы JSON Schema (draft 2020-12) и не меняются молча.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5 / 22</a:t>
            </a:r>
          </a:p>
        </p:txBody>
      </p:sp>
    </p:spTree>
  </p:cSld>
  <p:clrMapOvr>
    <a:masterClrMapping/>
  </p:clrMapOvr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Реализация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6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Захват потока: границы TCP ≠ границы сообщений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Сессия — экземпляр соединения, а не пара адресов.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Байты восстанавливаются по номерам последовательности; повторная передача даёт происхождение, а не лишние байты.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Пропуск не заполняется нулями — становится диагностикой.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Клик по байту показывает пакет, номер последовательности и время.</a:t>
            </a:r>
          </a:p>
        </p:txBody>
      </p:sp>
      <p:pic>
        <p:nvPicPr>
          <p:cNvPr id="6" name="Picture 5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02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Реальное окно: сессии, байты, интерпретация, происхождение, диагностика.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7 / 22</a:t>
            </a:r>
          </a:p>
        </p:txBody>
      </p:sp>
    </p:spTree>
  </p:cSld>
  <p:clrMapOvr>
    <a:masterClrMapping/>
  </p:clrMapOvr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Правила и фрейминг: одно описание на весь поток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Фрейминг: по длине, фиксированный размер, по маркерам, вручную.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Типы полей: uint · bytes · enum · string · checksum · computed.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Поле с пометкой </a:t>
            </a:r>
            <a:r>
              <a:rPr sz="1500">
                <a:solidFill>
                  <a:srgbClr val="E0603A"/>
                </a:solidFill>
                <a:latin typeface="JetBrains Mono"/>
              </a:rPr>
              <a:t>hypothesis</a:t>
            </a:r>
            <a:r>
              <a:rPr sz="1700" b="0">
                <a:solidFill>
                  <a:srgbClr val="EDEDED"/>
                </a:solidFill>
                <a:latin typeface="Inter"/>
              </a:rPr>
              <a:t> — предположение о смысле, а не факт.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Сообщения не перечисляются вручную: правило описывает весь поток.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Пример правила: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framing length_prefixed, length_offset 2, length_size 2, byte_order big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fields: command offset 0, uint8, hypothesis, expected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Фрагмент examples/corpus_rule_v1.json.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8 / 22</a:t>
            </a:r>
          </a:p>
        </p:txBody>
      </p:sp>
    </p:spTree>
  </p:cSld>
  <p:clrMapOvr>
    <a:masterClrMapping/>
  </p:clrMapOvr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Гипотезы и контрпримеры: совпадение — не доказательство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Шесть статусов: matched · mismatched · ambiguous · incomplete · uncovered · not_applicable.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</a:t>
            </a:r>
            <a:r>
              <a:rPr sz="1500">
                <a:solidFill>
                  <a:srgbClr val="E0603A"/>
                </a:solidFill>
                <a:latin typeface="JetBrains Mono"/>
              </a:rPr>
              <a:t>mismatched</a:t>
            </a:r>
            <a:r>
              <a:rPr sz="1700" b="0">
                <a:solidFill>
                  <a:srgbClr val="EDEDED"/>
                </a:solidFill>
                <a:latin typeface="Inter"/>
              </a:rPr>
              <a:t> — контрпример, привязанный к байтам и пакету-источнику.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Правило проверяется на всём корпусе.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Контрпримеры сохраняются, а не отбрасываются.</a:t>
            </a:r>
          </a:p>
        </p:txBody>
      </p:sp>
      <p:pic>
        <p:nvPicPr>
          <p:cNvPr id="6" name="Picture 5" descr="05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02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9 / 22</a:t>
            </a:r>
          </a:p>
        </p:txBody>
      </p:sp>
    </p:spTree>
  </p:cSld>
  <p:clrMapOvr>
    <a:masterClrMapping/>
  </p:clrMapOvr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Функционал: три киллер-фичи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20240"/>
            <a:ext cx="3500018" cy="237744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1920240"/>
            <a:ext cx="45720" cy="237744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" y="2103120"/>
            <a:ext cx="313425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0603A"/>
                </a:solidFill>
                <a:latin typeface="JetBrains Mono"/>
              </a:rPr>
              <a:t>R1 · источник</a:t>
            </a:r>
          </a:p>
          <a:p>
            <a:r>
              <a:rPr sz="1500" b="0">
                <a:solidFill>
                  <a:srgbClr val="EDEDED"/>
                </a:solidFill>
                <a:latin typeface="Inter"/>
              </a:rPr>
              <a:t>Каждое утверждение о протоколе привязано к конкретному байту, пакету и времени.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5838" y="1920240"/>
            <a:ext cx="3500018" cy="237744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5838" y="1920240"/>
            <a:ext cx="45720" cy="237744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8718" y="2103120"/>
            <a:ext cx="313425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0603A"/>
                </a:solidFill>
                <a:latin typeface="JetBrains Mono"/>
              </a:rPr>
              <a:t>R4 · проверка</a:t>
            </a:r>
          </a:p>
          <a:p>
            <a:r>
              <a:rPr sz="1500" b="0">
                <a:solidFill>
                  <a:srgbClr val="EDEDED"/>
                </a:solidFill>
                <a:latin typeface="Inter"/>
              </a:rPr>
              <a:t>Контрпримеры сохраняются, а не отбрасываются. Совпадение ≠ доказательство.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0176" y="1920240"/>
            <a:ext cx="3500018" cy="237744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0176" y="1920240"/>
            <a:ext cx="45720" cy="237744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3056" y="2103120"/>
            <a:ext cx="3134258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0603A"/>
                </a:solidFill>
                <a:latin typeface="JetBrains Mono"/>
              </a:rPr>
              <a:t>R6 · перенос</a:t>
            </a:r>
          </a:p>
          <a:p>
            <a:r>
              <a:rPr sz="1500" b="0">
                <a:solidFill>
                  <a:srgbClr val="EDEDED"/>
                </a:solidFill>
                <a:latin typeface="Inter"/>
              </a:rPr>
              <a:t>Правило для одного захвата применяется к новым данным без ручного описания.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Происхождение, опровержимость, переносимость.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10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11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Цикл на корпусе: шесть шагов</a:t>
            </a:r>
          </a:p>
        </p:txBody>
      </p:sp>
      <p:pic>
        <p:nvPicPr>
          <p:cNvPr id="5" name="Picture 4" descr="research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54480"/>
            <a:ext cx="10894978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Наблюдение → гипотеза → проверка → контрпример → уточнение → повторная проверка.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12 / 22</a:t>
            </a:r>
          </a:p>
        </p:txBody>
      </p:sp>
    </p:spTree>
  </p:cSld>
  <p:clrMapOvr>
    <a:masterClrMapping/>
  </p:clrMapOvr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Проверка и контрпримеры: точность 0.43 → 1.00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Чтение, объявленное правилом v1, даёт 0.43 (60 matched, 80 mismatched).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Каждый mismatched-байт привязан к пакету-источнику и сохранён.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После уточнения v2: 140 matched, 0 контрпримеров.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matched 60 → 140, mismatched 80 → 0.</a:t>
            </a:r>
          </a:p>
        </p:txBody>
      </p:sp>
      <p:pic>
        <p:nvPicPr>
          <p:cNvPr id="6" name="Picture 5" descr="precision_v1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531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Источник: docs/METRICS.md.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13 / 22</a:t>
            </a:r>
          </a:p>
        </p:txBody>
      </p:sp>
    </p:spTree>
  </p:cSld>
  <p:clrMapOvr>
    <a:masterClrMapping/>
  </p:clrMapOvr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Сравнение версий: изменён один список, структура та же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Изменён только список допустимых команд: [1] → [1, 2, 3].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Фрейминг, число полей, смещения и типы идентичны.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Старый результат хранится со своей версией и помечается outdated.</a:t>
            </a:r>
          </a:p>
        </p:txBody>
      </p:sp>
      <p:pic>
        <p:nvPicPr>
          <p:cNvPr id="6" name="Picture 5" descr="08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554480"/>
            <a:ext cx="5379415" cy="302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14 / 22</a:t>
            </a:r>
          </a:p>
        </p:txBody>
      </p:sp>
    </p:spTree>
  </p:cSld>
  <p:clrMapOvr>
    <a:masterClrMapping/>
  </p:clrMapOvr>
  <p:transition spd="med" fade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Контрпример как ценность: байт, который уточнил правило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session / direction: s2 / A_to_B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message offset 0, length 7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bytes 02 00 00 03 13 00 55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reason value 2 not in expected [1]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packet 128 / seq 20001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Уточнение правила: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</a:t>
            </a:r>
            <a:r>
              <a:rPr sz="1500">
                <a:solidFill>
                  <a:srgbClr val="E0603A"/>
                </a:solidFill>
                <a:latin typeface="JetBrains Mono"/>
              </a:rPr>
              <a:t>expected</a:t>
            </a:r>
            <a:r>
              <a:rPr sz="1700" b="0">
                <a:solidFill>
                  <a:srgbClr val="EDEDED"/>
                </a:solidFill>
                <a:latin typeface="Inter"/>
              </a:rPr>
              <a:t>: [1] → [1, 2, 3]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Один байт, привязанный к пакету-источнику, превратил 80 контрпримеров в 0 (v1 → 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Конкретный mismatched-байт, привязанный к пакету.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15 / 22</a:t>
            </a:r>
          </a:p>
        </p:txBody>
      </p:sp>
    </p:spTree>
  </p:cSld>
  <p:clrMapOvr>
    <a:masterClrMapping/>
  </p:clrMapOvr>
  <p:transition spd="med" fade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Метрики: сводка чисел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140</a:t>
            </a:r>
          </a:p>
          <a:p>
            <a:r>
              <a:rPr sz="1300" b="0">
                <a:solidFill>
                  <a:srgbClr val="B8B8B8"/>
                </a:solidFill>
                <a:latin typeface="Inter"/>
              </a:rPr>
              <a:t>matched, rule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40" y="155448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0</a:t>
            </a:r>
          </a:p>
          <a:p>
            <a:r>
              <a:rPr sz="1300" b="0">
                <a:solidFill>
                  <a:srgbClr val="B8B8B8"/>
                </a:solidFill>
                <a:latin typeface="Inter"/>
              </a:rPr>
              <a:t>counterexamples,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60604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10/10</a:t>
            </a:r>
          </a:p>
          <a:p>
            <a:r>
              <a:rPr sz="1300" b="0">
                <a:solidFill>
                  <a:srgbClr val="B8B8B8"/>
                </a:solidFill>
                <a:latin typeface="Inter"/>
              </a:rPr>
              <a:t>потоков разобрано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40" y="260604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280</a:t>
            </a:r>
          </a:p>
          <a:p>
            <a:r>
              <a:rPr sz="1300" b="0">
                <a:solidFill>
                  <a:srgbClr val="B8B8B8"/>
                </a:solidFill>
                <a:latin typeface="Inter"/>
              </a:rPr>
              <a:t>сообщений в захвате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65760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40/40</a:t>
            </a:r>
          </a:p>
          <a:p>
            <a:r>
              <a:rPr sz="1300" b="0">
                <a:solidFill>
                  <a:srgbClr val="B8B8B8"/>
                </a:solidFill>
                <a:latin typeface="Inter"/>
              </a:rPr>
              <a:t>перенос на захват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3657600"/>
            <a:ext cx="31775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FFFFFF"/>
                </a:solidFill>
                <a:latin typeface="Manrope"/>
              </a:rPr>
              <a:t>5/5</a:t>
            </a:r>
          </a:p>
          <a:p>
            <a:r>
              <a:rPr sz="1300" b="0">
                <a:solidFill>
                  <a:srgbClr val="B8B8B8"/>
                </a:solidFill>
                <a:latin typeface="Inter"/>
              </a:rPr>
              <a:t>CI зелёный</a:t>
            </a:r>
          </a:p>
        </p:txBody>
      </p:sp>
      <p:pic>
        <p:nvPicPr>
          <p:cNvPr id="11" name="Picture 10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0" y="1554480"/>
            <a:ext cx="4190695" cy="32118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Источник: docs/METRICS.md, docs/AUDIT.md.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16 / 22</a:t>
            </a:r>
          </a:p>
        </p:txBody>
      </p:sp>
    </p:spTree>
  </p:cSld>
  <p:clrMapOvr>
    <a:masterClrMapping/>
  </p:clrMapOvr>
  <p:transition spd="med" fade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Расширения: веб-интерфейс на localhost поверх того же ядра</a:t>
            </a:r>
          </a:p>
        </p:txBody>
      </p:sp>
      <p:pic>
        <p:nvPicPr>
          <p:cNvPr id="5" name="Picture 4" descr="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54480"/>
            <a:ext cx="24003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Ядро отделено от GUI контрактами JSON — веб тонкая обёртка, не дубль.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Те же src.capture и src.protocol, своей логики нет.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Ставится отдельно: pip install -e ".[web]".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FastAPI + HTMX, 127.0.0.1, extra .[web].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17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194560"/>
            <a:ext cx="110486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E0603A"/>
                </a:solidFill>
                <a:latin typeface="Manrope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2004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Manrope"/>
              </a:rPr>
              <a:t>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97680"/>
            <a:ext cx="3657600" cy="73152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18 /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Ограничения: честный список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Смысл байта флагов не установлен: в корпусе он постоянен.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Поле значения остаётся гипотезой.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Ответы разбираются по границам, но не по полям.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Альтернативные чтения берутся из заданного набора.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Корпус синтетический — протокол может не совпадать с устройством.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Интерпретация верна для проверенных захватов и молчит вне них.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19 / 22</a:t>
            </a:r>
          </a:p>
        </p:txBody>
      </p:sp>
    </p:spTree>
  </p:cSld>
  <p:clrMapOvr>
    <a:masterClrMapping/>
  </p:clrMapOvr>
  <p:transition spd="med" fade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Направления развития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3949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IPv6 и IP-фрагментация.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Live capture — разбор по мере поступления.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0780" y="1554480"/>
            <a:ext cx="5379415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Полный автомат состояний — связывать запрос и ответ по транзакции.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Реальные данные от производителя.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989320"/>
            <a:ext cx="11048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6A6A6"/>
                </a:solidFill>
                <a:latin typeface="Inter"/>
              </a:rPr>
              <a:t>Ни один пункт не входит в проверенную область: это расширения, не обещания.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20 / 22</a:t>
            </a:r>
          </a:p>
        </p:txBody>
      </p:sp>
    </p:spTree>
  </p:cSld>
  <p:clrMapOvr>
    <a:masterClrMapping/>
  </p:clrMapOvr>
  <p:transition spd="med" fade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50292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nrope"/>
              </a:rPr>
              <a:t>Итог и 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54480"/>
            <a:ext cx="54864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Восстановлена раскладка: код команды, флаги, длина (uint16, BE), полезная нагрузка.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Команда принимает 1, 2, 3; смещение 4 — идентификатор параметра.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Правило переносится на второй захват и не переносится на посторонний.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DEDED"/>
                </a:solidFill>
                <a:latin typeface="Inter"/>
              </a:rPr>
              <a:t>•  Каждое утверждение подкреплено байтами, контрпримером или журналом.</a:t>
            </a:r>
          </a:p>
        </p:txBody>
      </p:sp>
      <p:pic>
        <p:nvPicPr>
          <p:cNvPr id="6" name="Picture 5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967" y="155448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72300" y="3931920"/>
            <a:ext cx="4647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>
                <a:solidFill>
                  <a:srgbClr val="A6A6A6"/>
                </a:solidFill>
                <a:hlinkClick r:id="rId3"/>
              </a:rPr>
              <a:t>https://github.com/Pavel1778/madrigal-protocol-lab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21 / 22</a:t>
            </a:r>
          </a:p>
        </p:txBody>
      </p:sp>
    </p:spTree>
  </p:cSld>
  <p:clrMapOvr>
    <a:masterClrMapping/>
  </p:clrMapOvr>
  <p:transition spd="med" fade="1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1371600"/>
            <a:ext cx="11048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FFFFFF"/>
                </a:solidFill>
                <a:latin typeface="Manrope"/>
              </a:rPr>
              <a:t>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377440"/>
            <a:ext cx="11048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B8B8B8"/>
                </a:solidFill>
                <a:latin typeface="Inter"/>
              </a:rPr>
              <a:t>Команда HTTP 418 · UMIRHack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3017520"/>
            <a:ext cx="343905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Manrope"/>
              </a:rPr>
              <a:t>741</a:t>
            </a:r>
          </a:p>
          <a:p>
            <a:pPr algn="ctr"/>
            <a:r>
              <a:rPr sz="1200" b="0">
                <a:solidFill>
                  <a:srgbClr val="B8B8B8"/>
                </a:solidFill>
                <a:latin typeface="Inter"/>
              </a:rPr>
              <a:t>тест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6318" y="3017520"/>
            <a:ext cx="343905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Manrope"/>
              </a:rPr>
              <a:t>90%</a:t>
            </a:r>
          </a:p>
          <a:p>
            <a:pPr algn="ctr"/>
            <a:r>
              <a:rPr sz="1200" b="0">
                <a:solidFill>
                  <a:srgbClr val="B8B8B8"/>
                </a:solidFill>
                <a:latin typeface="Inter"/>
              </a:rPr>
              <a:t>покрытие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1136" y="3017520"/>
            <a:ext cx="343905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Manrope"/>
              </a:rPr>
              <a:t>8</a:t>
            </a:r>
          </a:p>
          <a:p>
            <a:pPr algn="ctr"/>
            <a:r>
              <a:rPr sz="1200" b="0">
                <a:solidFill>
                  <a:srgbClr val="B8B8B8"/>
                </a:solidFill>
                <a:latin typeface="Inter"/>
              </a:rPr>
              <a:t>артефактов в релизе</a:t>
            </a:r>
          </a:p>
        </p:txBody>
      </p:sp>
      <p:pic>
        <p:nvPicPr>
          <p:cNvPr id="9" name="Picture 8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167" y="4206240"/>
            <a:ext cx="1463040" cy="1463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18407" y="576072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6A6A6"/>
                </a:solidFill>
                <a:latin typeface="Inter"/>
              </a:rPr>
              <a:t>Репозиторий</a:t>
            </a:r>
          </a:p>
        </p:txBody>
      </p:sp>
      <p:pic>
        <p:nvPicPr>
          <p:cNvPr id="11" name="Picture 10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7" y="4206240"/>
            <a:ext cx="146304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576072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6A6A6"/>
                </a:solidFill>
                <a:latin typeface="Inter"/>
              </a:rPr>
              <a:t>Релиз v1.0.0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6400800"/>
            <a:ext cx="11048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Inter"/>
              </a:rPr>
              <a:t>Команда HTTP 418 · UMIRHack 2026 · 22 / 22</a:t>
            </a:r>
          </a:p>
        </p:txBody>
      </p:sp>
    </p:spTree>
  </p:cSld>
  <p:clrMapOvr>
    <a:masterClrMapping/>
  </p:clrMapOvr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