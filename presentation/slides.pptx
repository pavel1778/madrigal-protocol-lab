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Tektur"/>
      <p:regular r:id="rId22" fontKey="{27E04CAF-4F9E-C315-3E78-7ADC5AE0D597}"/>
      <p:bold r:id="rId23" fontKey="{A12660F0-7690-25AC-9BE9-6509C0A8B2A5}"/>
    </p:embeddedFont>
    <p:embeddedFont>
      <p:font typeface="Montserrat"/>
      <p:regular r:id="rId24" fontKey="{3547397D-CEC3-B89A-5FB5-020C9CB6E4DD}"/>
      <p:bold r:id="rId25" fontKey="{0CB8D5B1-66EF-C706-0E19-6341EC3D8E46}"/>
    </p:embeddedFont>
    <p:embeddedFont>
      <p:font typeface="JetBrains Mono"/>
      <p:regular r:id="rId26" fontKey="{C6EB8399-2A56-D694-A331-105094B34A55}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 задачи и наша первая гипотеза о смещении поля длины.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96926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A8A29E"/>
                </a:solidFill>
                <a:latin typeface="JetBrains Mono"/>
              </a:rPr>
              <a:t>КЕЙС ЗАКАЗЧИКА</a:t>
            </a:r>
          </a:p>
        </p:txBody>
      </p:sp>
      <p:pic>
        <p:nvPicPr>
          <p:cNvPr id="7" name="Picture 6" descr="madrig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295" y="1298448"/>
            <a:ext cx="2377440" cy="576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91295" y="197510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JetBrains Mono"/>
              </a:rPr>
              <a:t>кейс #02 · UMIRHack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F4F1EC"/>
                </a:solidFill>
                <a:latin typeface="Tektur"/>
              </a:rPr>
              <a:t>Лаборатория протоколов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F4F1EC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D0603A"/>
                </a:solidFill>
                <a:latin typeface="JetBrains Mono"/>
              </a:rPr>
              <a:t>Python 3.12 · PySide6 · dpkt · pytest · Docker</a:t>
            </a:r>
          </a:p>
        </p:txBody>
      </p:sp>
    </p:spTree>
  </p:cSld>
  <p:clrMapOvr>
    <a:masterClrMapping/>
  </p:clrMapOvr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2402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6596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057400"/>
            <a:ext cx="230108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06040"/>
            <a:ext cx="230108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017520"/>
            <a:ext cx="23010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976" y="2057400"/>
            <a:ext cx="758952" cy="75895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2402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196596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057400"/>
            <a:ext cx="230108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06040"/>
            <a:ext cx="230108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017520"/>
            <a:ext cx="23010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5464" y="2057400"/>
            <a:ext cx="758952" cy="7589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2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4F1EC"/>
                </a:solidFill>
                <a:latin typeface="Tektur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A8A29E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3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F4F1EC"/>
                </a:solidFill>
                <a:latin typeface="Tektur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160020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160020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56232"/>
            <a:ext cx="449564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219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Захваты </a:t>
            </a:r>
            <a:r>
              <a:rPr sz="1300">
                <a:solidFill>
                  <a:srgbClr val="D0603A"/>
                </a:solidFill>
                <a:latin typeface="JetBrains Mono"/>
              </a:rPr>
              <a:t>pcap</a:t>
            </a:r>
            <a:r>
              <a:rPr sz="1500" b="0">
                <a:solidFill>
                  <a:srgbClr val="F4F1EC"/>
                </a:solidFill>
                <a:latin typeface="Montserrat"/>
              </a:rPr>
              <a:t>/</a:t>
            </a:r>
            <a:r>
              <a:rPr sz="1300">
                <a:solidFill>
                  <a:srgbClr val="D0603A"/>
                </a:solidFill>
                <a:latin typeface="JetBrains Mono"/>
              </a:rPr>
              <a:t>pcapng</a:t>
            </a:r>
            <a:r>
              <a:rPr sz="1500" b="0">
                <a:solidFill>
                  <a:srgbClr val="F4F1EC"/>
                </a:solidFill>
                <a:latin typeface="Montserrat"/>
              </a:rPr>
              <a:t>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791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160020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160020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1856232"/>
            <a:ext cx="449564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2219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6791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Смещение поля длины оказалось на четыре байта позже, чем мы считали: одно правило, два чтения, поле длины остаётся на offset 2.</a:t>
            </a:r>
          </a:p>
        </p:txBody>
      </p:sp>
      <p:pic>
        <p:nvPicPr>
          <p:cNvPr id="16" name="Picture 15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06240"/>
            <a:ext cx="3349951" cy="1280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4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5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От интерпретации можно вернуться к исходным данным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7519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packet 3 · seq 1001 · ts 1700000000.004 · сессия 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6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44287" cy="174505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5044287" cy="2668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7 / 14</a:t>
            </a:r>
          </a:p>
        </p:txBody>
      </p:sp>
    </p:spTree>
  </p:cSld>
  <p:clrMapOvr>
    <a:masterClrMapping/>
  </p:clrMapOvr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Контрпример важнее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4 НЕЗАВИСИМЫЕ СЕССИИ В КОРПУСЕ + ЖУРНАЛ ДЕЙСТВИЙ УСТРОЙСТВА</a:t>
            </a:r>
          </a:p>
        </p:txBody>
      </p:sp>
      <p:pic>
        <p:nvPicPr>
          <p:cNvPr id="6" name="Picture 5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8520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80 несоответствий v1 — на offset 0 в сессиях s2 и s3.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Значение 2 повторяется в независимых сессиях корпуса и связано с действием «изменить настройку»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8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Что получилось: 60 из 140 → 140 из 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32004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6000" b="1">
                <a:solidFill>
                  <a:srgbClr val="DC2626"/>
                </a:solidFill>
                <a:latin typeface="Tektur"/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контрпримеров в 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286000"/>
            <a:ext cx="82296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400" b="0">
                <a:solidFill>
                  <a:srgbClr val="7A7570"/>
                </a:solidFill>
                <a:latin typeface="Tektur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2286000"/>
            <a:ext cx="320040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6000" b="1">
                <a:solidFill>
                  <a:srgbClr val="16A34A"/>
                </a:solidFill>
                <a:latin typeface="Tektur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33375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контрпримеров в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3192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97764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3977640"/>
            <a:ext cx="319783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055" y="393192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0.43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484632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0" y="4846320"/>
            <a:ext cx="7436815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7055" y="480060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9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Осколки IP собираются в одно сообщение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IPv4 и IPv6 по своим правилам. Сессия знает, из каких пакетов собрана: статус reassembled_from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5394960" cy="118872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IPv4 группирует по id и protocol, offset в единицах по 8 байт; неполный фрагмент не собирается.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5394960" cy="118872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IPv6 группирует по id; перекрытие не допускается — датаграмма отбрасывается.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194560"/>
            <a:ext cx="52422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0603A"/>
                </a:solidFill>
                <a:latin typeface="JetBrains Mono"/>
              </a:rPr>
              <a:t>01 00 00 03 13 00 55 …  ▸ ▸ ▸ ▸ ▸ ▸ 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455164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245516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IPv4 id + protocol, offset ×8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9292" y="4892040"/>
            <a:ext cx="2455164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9292" y="4937760"/>
            <a:ext cx="245516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IPv6 id, перекрытие отклонено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4892040"/>
            <a:ext cx="1911096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4937760"/>
            <a:ext cx="1911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12 тестов фрагментации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3212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Дырка — это incomplete, а не ноль: байты не угадываются, пока не покрыт каждый байт до конца и не увиден последний фрагмент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10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0" b="1">
                <a:solidFill>
                  <a:srgbClr val="D0603A"/>
                </a:solidFill>
                <a:latin typeface="Tektur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45 запросов + 45 ответов. Все matched.</a:t>
            </a:r>
          </a:p>
        </p:txBody>
      </p:sp>
      <p:pic>
        <p:nvPicPr>
          <p:cNvPr id="7" name="Picture 6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3579198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617720"/>
            <a:ext cx="237744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400" b="1">
                <a:solidFill>
                  <a:srgbClr val="D0603A"/>
                </a:solidFill>
                <a:latin typeface="Tektur"/>
              </a:rPr>
              <a:t>12 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692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общее время на 95 МиБ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617720"/>
            <a:ext cx="237744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400" b="1">
                <a:solidFill>
                  <a:srgbClr val="D0603A"/>
                </a:solidFill>
                <a:latin typeface="Tektur"/>
              </a:rPr>
              <a:t>350 МиБ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6692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пик памяти · 9% бюджета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4617720"/>
            <a:ext cx="2377440" cy="10972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400" b="1">
                <a:solidFill>
                  <a:srgbClr val="D0603A"/>
                </a:solidFill>
                <a:latin typeface="Tektur"/>
              </a:rPr>
              <a:t>250k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56692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пакетов разобрано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Данные не использовались при уточнении правила; условия замера: 95.66 МиБ, 250 000 пакетов, 1000 сессий, 4 vCPU / 16 ГиБ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11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4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Демонстрация: живое окно и запись прогона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Сессии, байты, интерпретация, происхождение и диагностика в одном окне. Резерв — запись полного прогона, 2:22, без звука; играется, если живое окно не поднимется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12 / 14</a:t>
            </a:r>
          </a:p>
        </p:txBody>
      </p:sp>
    </p:spTree>
  </p:cSld>
  <p:clrMapOvr>
    <a:masterClrMapping/>
  </p:clrMapOvr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Границы и 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0442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ЧТО МЫ НЕ УТВЕРЖДАЕМ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91640"/>
            <a:ext cx="50442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ЧТО ОСТАЛОСЬ ЗА РАМКАМИ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945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31089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13 / 14</a:t>
            </a:r>
          </a:p>
        </p:txBody>
      </p:sp>
    </p:spTree>
  </p:cSld>
  <p:clrMapOvr>
    <a:masterClrMapping/>
  </p:clrMapOvr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4F1EC"/>
                </a:solidFill>
                <a:latin typeface="Tektur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Релиз v1.1.0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A8A29E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  <p:pic>
        <p:nvPicPr>
          <p:cNvPr id="14" name="Picture 13" descr="madrigal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328" y="5660136"/>
            <a:ext cx="2377440" cy="5760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6263640"/>
            <a:ext cx="103628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8A29E"/>
                </a:solidFill>
                <a:latin typeface="JetBrains Mono"/>
              </a:rPr>
              <a:t>Кейс #02 · UMIRHack 2026</a:t>
            </a:r>
          </a:p>
        </p:txBody>
      </p:sp>
    </p:spTree>
  </p:cSld>
  <p:clrMapOvr>
    <a:masterClrMapping/>
  </p:clrMapOvr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