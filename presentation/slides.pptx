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Приветствие, 20 секунд.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человека, разделение ролей, QR на контакт у каждого.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QR ведут на репозиторий, релиз и контакты.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hyperlink" Target="https://github.com/Pavel1778/madrigal-protocol-lab" TargetMode="External"/><Relationship Id="rId7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822960" cy="822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0" y="1207008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B8B8B8"/>
                </a:solidFill>
                <a:latin typeface="JetBrains Mono"/>
              </a:rPr>
              <a:t>MADRIGAL-PROTOCOL-LAB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54577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600" b="1">
                <a:solidFill>
                  <a:srgbClr val="EDEDED"/>
                </a:solidFill>
                <a:latin typeface="Montserrat"/>
              </a:rPr>
              <a:t>Лаборатория протоколов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83280"/>
            <a:ext cx="8686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0">
                <a:solidFill>
                  <a:srgbClr val="EDEDED"/>
                </a:solidFill>
                <a:latin typeface="Montserrat"/>
              </a:rPr>
              <a:t>Восстановление недокументированного бинарного протокола поверх TCP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43400"/>
            <a:ext cx="2194560" cy="64008"/>
          </a:xfrm>
          <a:prstGeom prst="rect">
            <a:avLst/>
          </a:prstGeom>
          <a:solidFill>
            <a:srgbClr val="A239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61772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B8B8B8"/>
                </a:solidFill>
                <a:latin typeface="JetBrains Mono"/>
              </a:rPr>
              <a:t>UMIRHack 2026 · кейс #02 · Мадригал · команда HTTP 418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EDEDED"/>
                </a:solidFill>
                <a:latin typeface="Montserrat"/>
              </a:rPr>
              <a:t>Нас двое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91640"/>
            <a:ext cx="5044287" cy="2377440"/>
          </a:xfrm>
          <a:prstGeom prst="rect">
            <a:avLst/>
          </a:prstGeom>
          <a:solidFill>
            <a:srgbClr val="1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vatar_pavel_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057400"/>
            <a:ext cx="1645920" cy="1645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971800" y="2103120"/>
            <a:ext cx="1752447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>
                <a:solidFill>
                  <a:srgbClr val="EDEDED"/>
                </a:solidFill>
                <a:latin typeface="Montserrat"/>
              </a:rPr>
              <a:t>Сабадаш Павел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2651760"/>
            <a:ext cx="1752447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B8B8B8"/>
                </a:solidFill>
                <a:latin typeface="Montserrat"/>
              </a:rPr>
              <a:t>Архитектура · захват · интерфейс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1800" y="3108960"/>
            <a:ext cx="17524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2391D"/>
                </a:solidFill>
                <a:latin typeface="JetBrains Mono"/>
              </a:rPr>
              <a:t>@Pasha1778</a:t>
            </a:r>
          </a:p>
        </p:txBody>
      </p:sp>
      <p:pic>
        <p:nvPicPr>
          <p:cNvPr id="10" name="Picture 9" descr="qr_telegram_pas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5647" y="2194560"/>
            <a:ext cx="1097280" cy="10972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24447" y="1691640"/>
            <a:ext cx="5044287" cy="2377440"/>
          </a:xfrm>
          <a:prstGeom prst="rect">
            <a:avLst/>
          </a:prstGeom>
          <a:solidFill>
            <a:srgbClr val="1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vatar_nikita_r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767" y="2057400"/>
            <a:ext cx="1645920" cy="1645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473287" y="2103120"/>
            <a:ext cx="1752447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>
                <a:solidFill>
                  <a:srgbClr val="EDEDED"/>
                </a:solidFill>
                <a:latin typeface="Montserrat"/>
              </a:rPr>
              <a:t>Предков Никита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73287" y="2651760"/>
            <a:ext cx="1752447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B8B8B8"/>
                </a:solidFill>
                <a:latin typeface="Montserrat"/>
              </a:rPr>
              <a:t>Правила · тесты · ревью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3287" y="3108960"/>
            <a:ext cx="17524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2391D"/>
                </a:solidFill>
                <a:latin typeface="JetBrains Mono"/>
              </a:rPr>
              <a:t>@petruan</a:t>
            </a:r>
          </a:p>
        </p:txBody>
      </p:sp>
      <p:pic>
        <p:nvPicPr>
          <p:cNvPr id="16" name="Picture 15" descr="qr_telegram_niki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7135" y="2194560"/>
            <a:ext cx="1097280" cy="10972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B8B8B8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8B8B8"/>
                </a:solidFill>
                <a:latin typeface="Montserrat"/>
              </a:rPr>
              <a:t>Постановка и метод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B8B8B8"/>
                </a:solidFill>
                <a:latin typeface="Montserrat"/>
              </a:rPr>
              <a:t>2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500" fill="hold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A2391D"/>
                </a:solidFill>
                <a:latin typeface="Montserrat"/>
              </a:rPr>
              <a:t>ПОСТАНОВКА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45775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400" b="1">
                <a:solidFill>
                  <a:srgbClr val="EDEDED"/>
                </a:solidFill>
                <a:latin typeface="Montserrat"/>
              </a:rPr>
              <a:t>TCP разрезает сообщения посередине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23160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0">
                <a:solidFill>
                  <a:srgbClr val="B8B8B8"/>
                </a:solidFill>
                <a:latin typeface="Montserrat"/>
              </a:rPr>
              <a:t>Границы пакета и границы сообщения — разные вещи</a:t>
            </a:r>
          </a:p>
        </p:txBody>
      </p:sp>
      <p:pic>
        <p:nvPicPr>
          <p:cNvPr id="7" name="Picture 6" descr="tcp_fra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200400"/>
            <a:ext cx="6539127" cy="2377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B8B8B8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8B8B8"/>
                </a:solidFill>
                <a:latin typeface="Montserrat"/>
              </a:rPr>
              <a:t>Постановка и метод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B8B8B8"/>
                </a:solidFill>
                <a:latin typeface="Montserrat"/>
              </a:rPr>
              <a:t>3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500" fill="hold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EDEDED"/>
                </a:solidFill>
                <a:latin typeface="Montserrat"/>
              </a:rPr>
              <a:t>Дано и требуется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91640"/>
            <a:ext cx="5044287" cy="3291840"/>
          </a:xfrm>
          <a:prstGeom prst="rect">
            <a:avLst/>
          </a:prstGeom>
          <a:solidFill>
            <a:srgbClr val="1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691640"/>
            <a:ext cx="45720" cy="3291840"/>
          </a:xfrm>
          <a:prstGeom prst="rect">
            <a:avLst/>
          </a:prstGeom>
          <a:solidFill>
            <a:srgbClr val="A239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965960"/>
            <a:ext cx="440420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>
                <a:solidFill>
                  <a:srgbClr val="A2391D"/>
                </a:solidFill>
                <a:latin typeface="Montserrat"/>
              </a:rPr>
              <a:t>ДАНО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468880"/>
            <a:ext cx="440420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EDEDED"/>
                </a:solidFill>
                <a:latin typeface="Montserrat"/>
              </a:rPr>
              <a:t>•  Захваты </a:t>
            </a:r>
            <a:r>
              <a:rPr sz="1500">
                <a:solidFill>
                  <a:srgbClr val="A2391D"/>
                </a:solidFill>
                <a:latin typeface="JetBrains Mono"/>
              </a:rPr>
              <a:t>pcap</a:t>
            </a:r>
            <a:r>
              <a:rPr sz="1700" b="0">
                <a:solidFill>
                  <a:srgbClr val="EDEDED"/>
                </a:solidFill>
                <a:latin typeface="Montserrat"/>
              </a:rPr>
              <a:t>/</a:t>
            </a:r>
            <a:r>
              <a:rPr sz="1500">
                <a:solidFill>
                  <a:srgbClr val="A2391D"/>
                </a:solidFill>
                <a:latin typeface="JetBrains Mono"/>
              </a:rPr>
              <a:t>pcapng</a:t>
            </a:r>
            <a:r>
              <a:rPr sz="1700" b="0">
                <a:solidFill>
                  <a:srgbClr val="EDEDED"/>
                </a:solidFill>
                <a:latin typeface="Montserrat"/>
              </a:rPr>
              <a:t> и журнал действий устройства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291840"/>
            <a:ext cx="440420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EDEDED"/>
                </a:solidFill>
                <a:latin typeface="Montserrat"/>
              </a:rPr>
              <a:t>•  Спецификации протокола нет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24447" y="1691640"/>
            <a:ext cx="5044287" cy="3291840"/>
          </a:xfrm>
          <a:prstGeom prst="rect">
            <a:avLst/>
          </a:prstGeom>
          <a:solidFill>
            <a:srgbClr val="1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24447" y="1691640"/>
            <a:ext cx="45720" cy="3291840"/>
          </a:xfrm>
          <a:prstGeom prst="rect">
            <a:avLst/>
          </a:prstGeom>
          <a:solidFill>
            <a:srgbClr val="A239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44487" y="1965960"/>
            <a:ext cx="440420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>
                <a:solidFill>
                  <a:srgbClr val="A2391D"/>
                </a:solidFill>
                <a:latin typeface="Montserrat"/>
              </a:rPr>
              <a:t>ТРЕБУЕТСЯ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44487" y="2468880"/>
            <a:ext cx="440420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EDEDED"/>
                </a:solidFill>
                <a:latin typeface="Montserrat"/>
              </a:rPr>
              <a:t>•  Проверяемая интерпретация структуры сообщений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487" y="3291840"/>
            <a:ext cx="440420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EDEDED"/>
                </a:solidFill>
                <a:latin typeface="Montserrat"/>
              </a:rPr>
              <a:t>•  Видно, где чтение верно, а где перестаёт работать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B8B8B8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8B8B8"/>
                </a:solidFill>
                <a:latin typeface="Montserrat"/>
              </a:rPr>
              <a:t>Постановка и метод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B8B8B8"/>
                </a:solidFill>
                <a:latin typeface="Montserrat"/>
              </a:rPr>
              <a:t>4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500" fill="hold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" dur="500" fill="hold"/>
                            <p:tgtEl>
                              <p:spTgt spid="1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2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4" dur="500" fill="hold"/>
                            <p:tgtEl>
                              <p:spTgt spid="1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A2391D"/>
                </a:solidFill>
                <a:latin typeface="Montserrat"/>
              </a:rPr>
              <a:t>ХОД РАБОТЫ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>
                <a:solidFill>
                  <a:srgbClr val="EDEDED"/>
                </a:solidFill>
                <a:latin typeface="Montserrat"/>
              </a:rPr>
              <a:t>Смещение поля длины оказалось на четыре байта позже, чем мы считали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B8B8B8"/>
                </a:solidFill>
                <a:latin typeface="Montserrat"/>
              </a:rPr>
              <a:t>Одно правило, два чтения: поле длины остаётся на offset 2</a:t>
            </a:r>
          </a:p>
        </p:txBody>
      </p:sp>
      <p:pic>
        <p:nvPicPr>
          <p:cNvPr id="7" name="Picture 6" descr="length_off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743200"/>
            <a:ext cx="5264209" cy="20116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22960" y="5029200"/>
            <a:ext cx="1643329" cy="384048"/>
          </a:xfrm>
          <a:prstGeom prst="roundRect">
            <a:avLst/>
          </a:prstGeom>
          <a:solidFill>
            <a:srgbClr val="A239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074920"/>
            <a:ext cx="164332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JetBrains Mono"/>
              </a:rPr>
              <a:t>наблюдение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03449" y="5029200"/>
            <a:ext cx="1643329" cy="384048"/>
          </a:xfrm>
          <a:prstGeom prst="roundRect">
            <a:avLst/>
          </a:prstGeom>
          <a:solidFill>
            <a:srgbClr val="A239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03449" y="5074920"/>
            <a:ext cx="164332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JetBrains Mono"/>
              </a:rPr>
              <a:t>гипотеза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3938" y="5029200"/>
            <a:ext cx="1643329" cy="384048"/>
          </a:xfrm>
          <a:prstGeom prst="roundRect">
            <a:avLst/>
          </a:prstGeom>
          <a:solidFill>
            <a:srgbClr val="A239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3938" y="5074920"/>
            <a:ext cx="164332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JetBrains Mono"/>
              </a:rPr>
              <a:t>проверка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4427" y="5029200"/>
            <a:ext cx="1643329" cy="384048"/>
          </a:xfrm>
          <a:prstGeom prst="roundRect">
            <a:avLst/>
          </a:prstGeom>
          <a:solidFill>
            <a:srgbClr val="A239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64427" y="5074920"/>
            <a:ext cx="164332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JetBrains Mono"/>
              </a:rPr>
              <a:t>контрпример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44916" y="5029200"/>
            <a:ext cx="1643329" cy="384048"/>
          </a:xfrm>
          <a:prstGeom prst="roundRect">
            <a:avLst/>
          </a:prstGeom>
          <a:solidFill>
            <a:srgbClr val="A239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44916" y="5074920"/>
            <a:ext cx="164332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JetBrains Mono"/>
              </a:rPr>
              <a:t>уточнение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25405" y="5029200"/>
            <a:ext cx="1643329" cy="384048"/>
          </a:xfrm>
          <a:prstGeom prst="roundRect">
            <a:avLst/>
          </a:prstGeom>
          <a:solidFill>
            <a:srgbClr val="A239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25405" y="5074920"/>
            <a:ext cx="164332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JetBrains Mono"/>
              </a:rPr>
              <a:t>повторная проверка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B8B8B8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8B8B8"/>
                </a:solidFill>
                <a:latin typeface="Montserrat"/>
              </a:rPr>
              <a:t>Постановка и метод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B8B8B8"/>
                </a:solidFill>
                <a:latin typeface="Montserrat"/>
              </a:rPr>
              <a:t>5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500" fill="hold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EDEDED"/>
                </a:solidFill>
                <a:latin typeface="Montserrat"/>
              </a:rPr>
              <a:t>Три модуля связаны форматами, а не вызовами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5167" y="1965960"/>
            <a:ext cx="3200400" cy="2011680"/>
          </a:xfrm>
          <a:prstGeom prst="rect">
            <a:avLst/>
          </a:prstGeom>
          <a:solidFill>
            <a:srgbClr val="1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5167" y="1965960"/>
            <a:ext cx="45720" cy="2011680"/>
          </a:xfrm>
          <a:prstGeom prst="rect">
            <a:avLst/>
          </a:prstGeom>
          <a:solidFill>
            <a:srgbClr val="A239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3767" y="228600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EDEDED"/>
                </a:solidFill>
                <a:latin typeface="Montserrat"/>
              </a:rPr>
              <a:t>capture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3767" y="2926080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B8B8B8"/>
                </a:solidFill>
                <a:latin typeface="Montserrat"/>
              </a:rPr>
              <a:t>pcap/pcapng → сессии</a:t>
            </a:r>
          </a:p>
          <a:p>
            <a:r>
              <a:rPr sz="1400" b="0">
                <a:solidFill>
                  <a:srgbClr val="B8B8B8"/>
                </a:solidFill>
                <a:latin typeface="Montserrat"/>
              </a:rPr>
              <a:t>reassembly, provenance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55567" y="274320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A2391D"/>
                </a:solidFill>
                <a:latin typeface="JetBrains Mono"/>
              </a:rPr>
              <a:t>JSON 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95647" y="1965960"/>
            <a:ext cx="3200400" cy="2011680"/>
          </a:xfrm>
          <a:prstGeom prst="rect">
            <a:avLst/>
          </a:prstGeom>
          <a:solidFill>
            <a:srgbClr val="1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95647" y="1965960"/>
            <a:ext cx="45720" cy="2011680"/>
          </a:xfrm>
          <a:prstGeom prst="rect">
            <a:avLst/>
          </a:prstGeom>
          <a:solidFill>
            <a:srgbClr val="A239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24247" y="228600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EDEDED"/>
                </a:solidFill>
                <a:latin typeface="Montserrat"/>
              </a:rPr>
              <a:t>protocol + hypothesis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24247" y="2926080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B8B8B8"/>
                </a:solidFill>
                <a:latin typeface="Montserrat"/>
              </a:rPr>
              <a:t>правила, фрейминг</a:t>
            </a:r>
          </a:p>
          <a:p>
            <a:r>
              <a:rPr sz="1400" b="0">
                <a:solidFill>
                  <a:srgbClr val="B8B8B8"/>
                </a:solidFill>
                <a:latin typeface="Montserrat"/>
              </a:rPr>
              <a:t>контрпримеры, версии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047" y="274320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A2391D"/>
                </a:solidFill>
                <a:latin typeface="JetBrains Mono"/>
              </a:rPr>
              <a:t>JSON 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6127" y="1965960"/>
            <a:ext cx="3200400" cy="2011680"/>
          </a:xfrm>
          <a:prstGeom prst="rect">
            <a:avLst/>
          </a:prstGeom>
          <a:solidFill>
            <a:srgbClr val="1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36127" y="1965960"/>
            <a:ext cx="45720" cy="2011680"/>
          </a:xfrm>
          <a:prstGeom prst="rect">
            <a:avLst/>
          </a:prstGeom>
          <a:solidFill>
            <a:srgbClr val="A239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64727" y="228600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EDEDED"/>
                </a:solidFill>
                <a:latin typeface="Montserrat"/>
              </a:rPr>
              <a:t>ui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64727" y="2926080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B8B8B8"/>
                </a:solidFill>
                <a:latin typeface="Montserrat"/>
              </a:rPr>
              <a:t>окно PySide6</a:t>
            </a:r>
          </a:p>
          <a:p>
            <a:r>
              <a:rPr sz="1400" b="0">
                <a:solidFill>
                  <a:srgbClr val="B8B8B8"/>
                </a:solidFill>
                <a:latin typeface="Montserrat"/>
              </a:rPr>
              <a:t>исследование и просмотр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0350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B8B8B8"/>
                </a:solidFill>
                <a:latin typeface="Montserrat"/>
              </a:rPr>
              <a:t>Контракты между модулями зафиксированы схемами JSON; порядок вызовов не важен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B8B8B8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8B8B8"/>
                </a:solidFill>
                <a:latin typeface="Montserrat"/>
              </a:rPr>
              <a:t>Постановка и метод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B8B8B8"/>
                </a:solidFill>
                <a:latin typeface="Montserrat"/>
              </a:rPr>
              <a:t>6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500" fill="hold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" dur="500" fill="hold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2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4" dur="500" fill="hold"/>
                            <p:tgtEl>
                              <p:spTgt spid="1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5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7" dur="500" fill="hold"/>
                            <p:tgtEl>
                              <p:spTgt spid="1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EDEDED"/>
                </a:solidFill>
                <a:latin typeface="Montserrat"/>
              </a:rPr>
              <a:t>От интерпретации можно вернуться к исходным данным</a:t>
            </a:r>
          </a:p>
        </p:txBody>
      </p:sp>
      <p:pic>
        <p:nvPicPr>
          <p:cNvPr id="5" name="Picture 4" descr="screenshot-prove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6766560" cy="335105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046720" y="1691640"/>
            <a:ext cx="3322015" cy="1234440"/>
          </a:xfrm>
          <a:prstGeom prst="rect">
            <a:avLst/>
          </a:prstGeom>
          <a:solidFill>
            <a:srgbClr val="1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691640"/>
            <a:ext cx="45720" cy="1234440"/>
          </a:xfrm>
          <a:prstGeom prst="rect">
            <a:avLst/>
          </a:prstGeom>
          <a:solidFill>
            <a:srgbClr val="A239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75320" y="1920240"/>
            <a:ext cx="28648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EDEDED"/>
                </a:solidFill>
                <a:latin typeface="Montserrat"/>
              </a:rPr>
              <a:t>packet 3 · seq 1001 · ts 1700000000.004 · сессия s1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B8B8B8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8B8B8"/>
                </a:solidFill>
                <a:latin typeface="Montserrat"/>
              </a:rPr>
              <a:t>Постановка и метод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B8B8B8"/>
                </a:solidFill>
                <a:latin typeface="Montserrat"/>
              </a:rPr>
              <a:t>7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500" fill="hold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EDEDED"/>
                </a:solidFill>
                <a:latin typeface="Montserrat"/>
              </a:rPr>
              <a:t>Правило проверяется на всём корпусе сразу</a:t>
            </a:r>
          </a:p>
        </p:txBody>
      </p:sp>
      <p:pic>
        <p:nvPicPr>
          <p:cNvPr id="5" name="Picture 4" descr="screenshot-r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5044287" cy="1745050"/>
          </a:xfrm>
          <a:prstGeom prst="rect">
            <a:avLst/>
          </a:prstGeom>
        </p:spPr>
      </p:pic>
      <p:pic>
        <p:nvPicPr>
          <p:cNvPr id="6" name="Picture 5" descr="screenshot-valid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447" y="1691640"/>
            <a:ext cx="5044287" cy="260350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B8B8B8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8B8B8"/>
                </a:solidFill>
                <a:latin typeface="Montserrat"/>
              </a:rPr>
              <a:t>Постановка и метод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B8B8B8"/>
                </a:solidFill>
                <a:latin typeface="Montserrat"/>
              </a:rPr>
              <a:t>8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500" fill="hold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EDEDED"/>
                </a:solidFill>
                <a:latin typeface="Montserrat"/>
              </a:rPr>
              <a:t>Контрпример важнее метрики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54577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>
                <a:solidFill>
                  <a:srgbClr val="A2391D"/>
                </a:solidFill>
                <a:latin typeface="Montserrat"/>
              </a:rPr>
              <a:t>4 НЕЗАВИСИМЫХ СЕССИИ + ЖУРНАЛ ДЕЙСТВИЙ УСТРОЙСТВА</a:t>
            </a:r>
          </a:p>
        </p:txBody>
      </p:sp>
      <p:pic>
        <p:nvPicPr>
          <p:cNvPr id="6" name="Picture 5" descr="screenshot-counter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1707350" cy="35661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046720" y="1691640"/>
            <a:ext cx="3322015" cy="1234440"/>
          </a:xfrm>
          <a:prstGeom prst="rect">
            <a:avLst/>
          </a:prstGeom>
          <a:solidFill>
            <a:srgbClr val="1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1691640"/>
            <a:ext cx="45720" cy="1234440"/>
          </a:xfrm>
          <a:prstGeom prst="rect">
            <a:avLst/>
          </a:prstGeom>
          <a:solidFill>
            <a:srgbClr val="A239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1920240"/>
            <a:ext cx="28648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EDEDED"/>
                </a:solidFill>
                <a:latin typeface="Montserrat"/>
              </a:rPr>
              <a:t>02 00 00 03 13 00 55  —  команда 2 вне ожидаемого набора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0" y="3063240"/>
            <a:ext cx="3322015" cy="1234440"/>
          </a:xfrm>
          <a:prstGeom prst="rect">
            <a:avLst/>
          </a:prstGeom>
          <a:solidFill>
            <a:srgbClr val="1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3227832"/>
            <a:ext cx="28648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>
                <a:solidFill>
                  <a:srgbClr val="A2391D"/>
                </a:solidFill>
                <a:latin typeface="Montserrat"/>
              </a:rPr>
              <a:t>ОДИН БАЙТ — 80 КОНТРПРИМЕРОВ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3566160"/>
            <a:ext cx="28648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EDEDED"/>
                </a:solidFill>
                <a:latin typeface="Montserrat"/>
              </a:rPr>
              <a:t>Все 80 несоответствий v1 сидели на offset 0 в сессиях s2 и s3.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0350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B8B8B8"/>
                </a:solidFill>
                <a:latin typeface="Montserrat"/>
              </a:rPr>
              <a:t>Значение 2 повторяется в 4 независимых сессиях и связано с действием «изменить настройку» в журнале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B8B8B8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8B8B8"/>
                </a:solidFill>
                <a:latin typeface="Montserrat"/>
              </a:rPr>
              <a:t>Постановка и метод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B8B8B8"/>
                </a:solidFill>
                <a:latin typeface="Montserrat"/>
              </a:rPr>
              <a:t>9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500" fill="hold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" dur="500" fill="hold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2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4" dur="500" fill="hold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4577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7200" b="1">
                <a:solidFill>
                  <a:srgbClr val="A2391D"/>
                </a:solidFill>
                <a:latin typeface="Montserrat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EDEDED"/>
                </a:solidFill>
                <a:latin typeface="Montserrat"/>
              </a:rPr>
              <a:t>Что получилось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206240"/>
            <a:ext cx="3108960" cy="82296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48056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>
                <a:solidFill>
                  <a:srgbClr val="B8B8B8"/>
                </a:solidFill>
                <a:latin typeface="Montserrat"/>
              </a:rPr>
              <a:t>Точность, покрытие корпуса организаторов, ресурсы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B8B8B8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8B8B8"/>
                </a:solidFill>
                <a:latin typeface="Montserrat"/>
              </a:rPr>
              <a:t>Результаты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B8B8B8"/>
                </a:solidFill>
                <a:latin typeface="Montserrat"/>
              </a:rPr>
              <a:t>10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push="1"/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4577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>
                <a:solidFill>
                  <a:srgbClr val="B8B8B8"/>
                </a:solidFill>
                <a:latin typeface="Montserrat"/>
              </a:rPr>
              <a:t>Уточнили правило: 60 из 140 → 140 из 140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B8B8B8"/>
                </a:solidFill>
                <a:latin typeface="Montserrat"/>
              </a:rPr>
              <a:t>На корпусе уточнения. Отдельно проверено на реальном датасете: 45 + 45, precision 1.00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4023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800" b="1">
                <a:solidFill>
                  <a:srgbClr val="A2391D"/>
                </a:solidFill>
                <a:latin typeface="Montserrat"/>
              </a:rPr>
              <a:t>1.00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40480"/>
            <a:ext cx="4023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>
                <a:solidFill>
                  <a:srgbClr val="EDEDED"/>
                </a:solidFill>
                <a:latin typeface="Montserrat"/>
              </a:rPr>
              <a:t>Было 60 matched из 140 и 80 контрпримеров. Стало 140 matched из 140 и ноль контрпримеров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56032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>
                <a:solidFill>
                  <a:srgbClr val="B8B8B8"/>
                </a:solidFill>
                <a:latin typeface="JetBrains Mono"/>
              </a:rPr>
              <a:t>v1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0" y="2606040"/>
            <a:ext cx="3230575" cy="292608"/>
          </a:xfrm>
          <a:prstGeom prst="rect">
            <a:avLst/>
          </a:prstGeom>
          <a:solidFill>
            <a:srgbClr val="26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0" y="2606040"/>
            <a:ext cx="1389147" cy="292608"/>
          </a:xfrm>
          <a:prstGeom prst="rect">
            <a:avLst/>
          </a:prstGeom>
          <a:solidFill>
            <a:srgbClr val="8E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62895" y="2560320"/>
            <a:ext cx="10058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800" b="1">
                <a:solidFill>
                  <a:srgbClr val="EDEDED"/>
                </a:solidFill>
                <a:latin typeface="Montserrat"/>
              </a:rPr>
              <a:t>0.43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6616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>
                <a:solidFill>
                  <a:srgbClr val="B8B8B8"/>
                </a:solidFill>
                <a:latin typeface="JetBrains Mono"/>
              </a:rPr>
              <a:t>v2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0" y="3611880"/>
            <a:ext cx="3230575" cy="292608"/>
          </a:xfrm>
          <a:prstGeom prst="rect">
            <a:avLst/>
          </a:prstGeom>
          <a:solidFill>
            <a:srgbClr val="26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040880" y="3611880"/>
            <a:ext cx="3230575" cy="292608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62895" y="3566160"/>
            <a:ext cx="10058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800" b="1">
                <a:solidFill>
                  <a:srgbClr val="EDEDED"/>
                </a:solidFill>
                <a:latin typeface="Montserrat"/>
              </a:rPr>
              <a:t>1.00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B8B8B8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8B8B8"/>
                </a:solidFill>
                <a:latin typeface="Montserrat"/>
              </a:rPr>
              <a:t>Результаты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B8B8B8"/>
                </a:solidFill>
                <a:latin typeface="Montserrat"/>
              </a:rPr>
              <a:t>11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500" fill="hold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" dur="500" fill="hold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2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4" dur="500" fill="hold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5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7" dur="500" fill="hold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8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20" dur="500" fill="hold"/>
                            <p:tgtEl>
                              <p:spTgt spid="1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1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23" dur="500" fill="hold"/>
                            <p:tgtEl>
                              <p:spTgt spid="1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4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26" dur="500" fill="hold"/>
                            <p:tgtEl>
                              <p:spTgt spid="1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4577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>
                <a:solidFill>
                  <a:srgbClr val="B8B8B8"/>
                </a:solidFill>
                <a:latin typeface="Montserrat"/>
              </a:rPr>
              <a:t>Набор организаторов разобран целиком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51206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800" b="1">
                <a:solidFill>
                  <a:srgbClr val="A2391D"/>
                </a:solidFill>
                <a:latin typeface="Montserrat"/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06240"/>
            <a:ext cx="51206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>
                <a:solidFill>
                  <a:srgbClr val="EDEDED"/>
                </a:solidFill>
                <a:latin typeface="Montserrat"/>
              </a:rPr>
              <a:t>45 запросов + 45 ответов. Все matched.</a:t>
            </a:r>
          </a:p>
        </p:txBody>
      </p:sp>
      <p:pic>
        <p:nvPicPr>
          <p:cNvPr id="7" name="Picture 6" descr="coverage_do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194560"/>
            <a:ext cx="4295038" cy="3291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60350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B8B8B8"/>
                </a:solidFill>
                <a:latin typeface="Montserrat"/>
              </a:rPr>
              <a:t>Данные не использовались при уточнении правила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B8B8B8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8B8B8"/>
                </a:solidFill>
                <a:latin typeface="Montserrat"/>
              </a:rPr>
              <a:t>Результаты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B8B8B8"/>
                </a:solidFill>
                <a:latin typeface="Montserrat"/>
              </a:rPr>
              <a:t>12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22" presetClass="entr" presetSubtype="8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700" fill="hold"/>
                            <p:tgtEl>
                              <p:spTgt spid="7"/>
                            </p:tgtEl>
                            <p:attrNameLst>
                              <p:attrName>ppt_w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4577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>
                <a:solidFill>
                  <a:srgbClr val="B8B8B8"/>
                </a:solidFill>
                <a:latin typeface="Montserrat"/>
              </a:rPr>
              <a:t>95 МиБ разбираются за 12 секунд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51206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800" b="1">
                <a:solidFill>
                  <a:srgbClr val="A2391D"/>
                </a:solidFill>
                <a:latin typeface="Montserrat"/>
              </a:rPr>
              <a:t>12 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06240"/>
            <a:ext cx="51206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>
                <a:solidFill>
                  <a:srgbClr val="EDEDED"/>
                </a:solidFill>
                <a:latin typeface="Montserrat"/>
              </a:rPr>
              <a:t>Пик памяти 350 МиБ при бюджете 4 ГиБ</a:t>
            </a:r>
          </a:p>
        </p:txBody>
      </p:sp>
      <p:pic>
        <p:nvPicPr>
          <p:cNvPr id="7" name="Picture 6" descr="memory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194560"/>
            <a:ext cx="4144402" cy="32918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22960" y="5349240"/>
            <a:ext cx="1444752" cy="365760"/>
          </a:xfrm>
          <a:prstGeom prst="roundRect">
            <a:avLst/>
          </a:prstGeom>
          <a:solidFill>
            <a:srgbClr val="26262A"/>
          </a:solidFill>
          <a:ln w="12700">
            <a:solidFill>
              <a:srgbClr val="2626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394960"/>
            <a:ext cx="14447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EDEDED"/>
                </a:solidFill>
                <a:latin typeface="Montserrat"/>
              </a:rPr>
              <a:t>12 с общее время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96312" y="5349240"/>
            <a:ext cx="1600200" cy="365760"/>
          </a:xfrm>
          <a:prstGeom prst="roundRect">
            <a:avLst/>
          </a:prstGeom>
          <a:solidFill>
            <a:srgbClr val="26262A"/>
          </a:solidFill>
          <a:ln w="12700">
            <a:solidFill>
              <a:srgbClr val="2626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96312" y="5394960"/>
            <a:ext cx="1600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EDEDED"/>
                </a:solidFill>
                <a:latin typeface="Montserrat"/>
              </a:rPr>
              <a:t>350 МиБ пик памяти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5112" y="5349240"/>
            <a:ext cx="1133856" cy="365760"/>
          </a:xfrm>
          <a:prstGeom prst="roundRect">
            <a:avLst/>
          </a:prstGeom>
          <a:solidFill>
            <a:srgbClr val="26262A"/>
          </a:solidFill>
          <a:ln w="12700">
            <a:solidFill>
              <a:srgbClr val="2626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5112" y="5394960"/>
            <a:ext cx="1133856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EDEDED"/>
                </a:solidFill>
                <a:latin typeface="Montserrat"/>
              </a:rPr>
              <a:t>250k пакетов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0350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B8B8B8"/>
                </a:solidFill>
                <a:latin typeface="Montserrat"/>
              </a:rPr>
              <a:t>Условия замера: 95.66 МиБ, 250 000 пакетов, 1000 сессий, 4 vCPU / 16 ГиБ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B8B8B8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8B8B8"/>
                </a:solidFill>
                <a:latin typeface="Montserrat"/>
              </a:rPr>
              <a:t>Результаты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B8B8B8"/>
                </a:solidFill>
                <a:latin typeface="Montserrat"/>
              </a:rPr>
              <a:t>13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22" presetClass="entr" presetSubtype="8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700" fill="hold"/>
                            <p:tgtEl>
                              <p:spTgt spid="7"/>
                            </p:tgtEl>
                            <p:attrNameLst>
                              <p:attrName>ppt_w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" dur="500" fill="hold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2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4" dur="500" fill="hold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5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7" dur="500" fill="hold"/>
                            <p:tgtEl>
                              <p:spTgt spid="1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4577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7200" b="1">
                <a:solidFill>
                  <a:srgbClr val="A2391D"/>
                </a:solidFill>
                <a:latin typeface="Montserrat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EDEDED"/>
                </a:solidFill>
                <a:latin typeface="Montserrat"/>
              </a:rPr>
              <a:t>Демонстрация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206240"/>
            <a:ext cx="3108960" cy="82296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48056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>
                <a:solidFill>
                  <a:srgbClr val="B8B8B8"/>
                </a:solidFill>
                <a:latin typeface="Montserrat"/>
              </a:rPr>
              <a:t>Живое окно и запись прогона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B8B8B8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8B8B8"/>
                </a:solidFill>
                <a:latin typeface="Montserrat"/>
              </a:rPr>
              <a:t>Демонстрация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B8B8B8"/>
                </a:solidFill>
                <a:latin typeface="Montserrat"/>
              </a:rPr>
              <a:t>14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push="1"/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EDEDED"/>
                </a:solidFill>
                <a:latin typeface="Montserrat"/>
              </a:rPr>
              <a:t>Живое окно</a:t>
            </a:r>
          </a:p>
        </p:txBody>
      </p:sp>
      <p:pic>
        <p:nvPicPr>
          <p:cNvPr id="5" name="Picture 4" descr="screenshot-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10545775" cy="27080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0350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B8B8B8"/>
                </a:solidFill>
                <a:latin typeface="Montserrat"/>
              </a:rPr>
              <a:t>Сессии, байты, интерпретация, происхождение и диагностика в одном окне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B8B8B8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8B8B8"/>
                </a:solidFill>
                <a:latin typeface="Montserrat"/>
              </a:rPr>
              <a:t>Демонстрация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B8B8B8"/>
                </a:solidFill>
                <a:latin typeface="Montserrat"/>
              </a:rPr>
              <a:t>15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EDEDED"/>
                </a:solidFill>
                <a:latin typeface="Montserrat"/>
              </a:rPr>
              <a:t>Резерв: 2 минуты записи прогона</a:t>
            </a:r>
          </a:p>
        </p:txBody>
      </p:sp>
      <p:pic>
        <p:nvPicPr>
          <p:cNvPr id="5" name="Picture 4" descr="screenshot-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10545775" cy="27080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0350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B8B8B8"/>
                </a:solidFill>
                <a:latin typeface="Montserrat"/>
              </a:rPr>
              <a:t>Полный прогон референсного исследования, если экран не поднимется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B8B8B8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8B8B8"/>
                </a:solidFill>
                <a:latin typeface="Montserrat"/>
              </a:rPr>
              <a:t>Демонстрация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B8B8B8"/>
                </a:solidFill>
                <a:latin typeface="Montserrat"/>
              </a:rPr>
              <a:t>16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4577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7200" b="1">
                <a:solidFill>
                  <a:srgbClr val="A2391D"/>
                </a:solidFill>
                <a:latin typeface="Montserrat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EDEDED"/>
                </a:solidFill>
                <a:latin typeface="Montserrat"/>
              </a:rPr>
              <a:t>Границы и итог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206240"/>
            <a:ext cx="3108960" cy="82296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48056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>
                <a:solidFill>
                  <a:srgbClr val="B8B8B8"/>
                </a:solidFill>
                <a:latin typeface="Montserrat"/>
              </a:rPr>
              <a:t>Что мы не утверждаем и что осталось за рамками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B8B8B8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8B8B8"/>
                </a:solidFill>
                <a:latin typeface="Montserrat"/>
              </a:rPr>
              <a:t>Границы и итог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B8B8B8"/>
                </a:solidFill>
                <a:latin typeface="Montserrat"/>
              </a:rPr>
              <a:t>17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push="1"/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EDEDED"/>
                </a:solidFill>
                <a:latin typeface="Montserrat"/>
              </a:rPr>
              <a:t>Что мы не утверждаем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20"/>
            <a:ext cx="5044287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EDEDED"/>
                </a:solidFill>
                <a:latin typeface="Montserrat"/>
              </a:rPr>
              <a:t>•  Смысл байта флагов не установлен: в корпусе он постоянен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5044287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EDEDED"/>
                </a:solidFill>
                <a:latin typeface="Montserrat"/>
              </a:rPr>
              <a:t>•  Поле значения остаётся гипотезой, а не фактом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1874520"/>
            <a:ext cx="5044287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EDEDED"/>
                </a:solidFill>
                <a:latin typeface="Montserrat"/>
              </a:rPr>
              <a:t>•  Альтернативные чтения берутся из заданного набора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2788920"/>
            <a:ext cx="5044287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EDEDED"/>
                </a:solidFill>
                <a:latin typeface="Montserrat"/>
              </a:rPr>
              <a:t>•  Интерпретация верна для проверенных захватов и молчит вне них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B8B8B8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B8B8B8"/>
                </a:solidFill>
                <a:latin typeface="Montserrat"/>
              </a:rPr>
              <a:t>Границы и итог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446520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B8B8B8"/>
                </a:solidFill>
                <a:latin typeface="Montserrat"/>
              </a:rPr>
              <a:t>18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500" fill="hold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" dur="500" fill="hold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2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4" dur="500" fill="hold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EDEDED"/>
                </a:solidFill>
                <a:latin typeface="Montserrat"/>
              </a:rPr>
              <a:t>Инструмент превращает байты в проверяемое знание</a:t>
            </a:r>
          </a:p>
        </p:txBody>
      </p:sp>
      <p:pic>
        <p:nvPicPr>
          <p:cNvPr id="5" name="Picture 4" descr="qr_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8207" y="2834640"/>
            <a:ext cx="1371600" cy="1371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43887" y="434340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B8B8B8"/>
                </a:solidFill>
                <a:latin typeface="Montserrat"/>
              </a:rPr>
              <a:t>Репозиторий</a:t>
            </a:r>
          </a:p>
        </p:txBody>
      </p:sp>
      <p:pic>
        <p:nvPicPr>
          <p:cNvPr id="7" name="Picture 6" descr="qr_rele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2767" y="2834640"/>
            <a:ext cx="1371600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038447" y="434340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B8B8B8"/>
                </a:solidFill>
                <a:latin typeface="Montserrat"/>
              </a:rPr>
              <a:t>Релиз v1.0.0</a:t>
            </a:r>
          </a:p>
        </p:txBody>
      </p:sp>
      <p:pic>
        <p:nvPicPr>
          <p:cNvPr id="9" name="Picture 8" descr="qr_telegram_pash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7327" y="2834640"/>
            <a:ext cx="1371600" cy="1371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33007" y="434340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B8B8B8"/>
                </a:solidFill>
                <a:latin typeface="Montserrat"/>
              </a:rPr>
              <a:t>@Pasha1778</a:t>
            </a:r>
          </a:p>
        </p:txBody>
      </p:sp>
      <p:pic>
        <p:nvPicPr>
          <p:cNvPr id="11" name="Picture 10" descr="qr_telegram_niki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1887" y="2834640"/>
            <a:ext cx="1371600" cy="1371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427567" y="434340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B8B8B8"/>
                </a:solidFill>
                <a:latin typeface="Montserrat"/>
              </a:rPr>
              <a:t>@petruan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29200"/>
            <a:ext cx="103628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>
                <a:solidFill>
                  <a:srgbClr val="B8B8B8"/>
                </a:solidFill>
                <a:latin typeface="JetBrains Mono"/>
                <a:hlinkClick r:id="rId6"/>
              </a:rPr>
              <a:t>github.com/Pavel1778/madrigal-protocol-lab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" dur="500" fill="hold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2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4" dur="500" fill="hold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5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7" dur="500" fill="hold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