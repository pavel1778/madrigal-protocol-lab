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1" r:id="rId22"/>
    <p:sldId id="273" r:id="rId24"/>
    <p:sldId id="275" r:id="rId26"/>
    <p:sldId id="277" r:id="rId28"/>
    <p:sldId id="279" r:id="rId30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2" Type="http://schemas.openxmlformats.org/officeDocument/2006/relationships/slide" Target="slides/slide15.xml"/><Relationship Id="rId24" Type="http://schemas.openxmlformats.org/officeDocument/2006/relationships/slide" Target="slides/slide16.xml"/><Relationship Id="rId26" Type="http://schemas.openxmlformats.org/officeDocument/2006/relationships/slide" Target="slides/slide17.xml"/><Relationship Id="rId28" Type="http://schemas.openxmlformats.org/officeDocument/2006/relationships/slide" Target="slides/slide18.xml"/><Relationship Id="rId30" Type="http://schemas.openxmlformats.org/officeDocument/2006/relationships/slide" Target="slides/slide19.xml"/><Relationship Id="rId32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original_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01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original_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02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original_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03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original_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04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original_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05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original_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06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original_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07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original_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08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original_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09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original_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1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1">
                <a:solidFill>
                  <a:srgbClr val="EBEBEB"/>
                </a:solidFill>
                <a:latin typeface="Aptos"/>
              </a:rPr>
              <a:t>АРХИТЕКТУРА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700" b="1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Из захвата — в проверяемую гипотезу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24712"/>
            <a:ext cx="1106424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AEA8A5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Приложение помогает исследовать неизвестный протокол, не выдавая предположения за спецификацию.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20440" cy="1508760"/>
          </a:xfrm>
          <a:prstGeom prst="roundRect">
            <a:avLst/>
          </a:prstGeom>
          <a:solidFill>
            <a:srgbClr val="1F1C1C"/>
          </a:solidFill>
          <a:ln w="10160">
            <a:solidFill>
              <a:srgbClr val="4A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11095"/>
            <a:ext cx="320040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9B1A2F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01 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313432"/>
            <a:ext cx="3200400" cy="88696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PCAP / PCAPNG и журналы устройства</a:t>
            </a:r>
            <a:br/>
            <a:r>
              <a:rPr>
                <a:solidFill>
                  <a:srgbClr val="EBEDF2"/>
                </a:solidFill>
              </a:rPr>
              <a:t>↓</a:t>
            </a:r>
            <a:br/>
            <a:r>
              <a:rPr>
                <a:solidFill>
                  <a:srgbClr val="EBEDF2"/>
                </a:solidFill>
              </a:rPr>
              <a:t>TCP-потоки и сообщения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83080"/>
            <a:ext cx="3520440" cy="1508760"/>
          </a:xfrm>
          <a:prstGeom prst="roundRect">
            <a:avLst/>
          </a:prstGeom>
          <a:solidFill>
            <a:srgbClr val="1F1C1C"/>
          </a:solidFill>
          <a:ln w="10160">
            <a:solidFill>
              <a:srgbClr val="4A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7992" y="1911095"/>
            <a:ext cx="320040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4E9170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02  ИССЛЕДОВАНИЕ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313432"/>
            <a:ext cx="3200400" cy="88696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Просмотр байтов и смещений</a:t>
            </a:r>
            <a:br/>
            <a:r>
              <a:rPr>
                <a:solidFill>
                  <a:srgbClr val="EBEDF2"/>
                </a:solidFill>
              </a:rPr>
              <a:t>Сравнение повторяющихся сообщений</a:t>
            </a:r>
            <a:br/>
            <a:r>
              <a:rPr>
                <a:solidFill>
                  <a:srgbClr val="EBEDF2"/>
                </a:solidFill>
              </a:rPr>
              <a:t>Поиск возможных полей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783080"/>
            <a:ext cx="3520440" cy="1508760"/>
          </a:xfrm>
          <a:prstGeom prst="roundRect">
            <a:avLst/>
          </a:prstGeom>
          <a:solidFill>
            <a:srgbClr val="1F1C1C"/>
          </a:solidFill>
          <a:ln w="10160">
            <a:solidFill>
              <a:srgbClr val="4A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911095"/>
            <a:ext cx="320040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9B1A2F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03  ПРОВЕРКА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2313432"/>
            <a:ext cx="3200400" cy="88696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Правило описывает гипотезу</a:t>
            </a:r>
            <a:br/>
            <a:r>
              <a:rPr>
                <a:solidFill>
                  <a:srgbClr val="EBEDF2"/>
                </a:solidFill>
              </a:rPr>
              <a:t>Прогон по корпусу</a:t>
            </a:r>
            <a:br/>
            <a:r>
              <a:rPr>
                <a:solidFill>
                  <a:srgbClr val="EBEDF2"/>
                </a:solidFill>
              </a:rPr>
              <a:t>Контрпримеры и отчёт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794760"/>
            <a:ext cx="18288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1">
                <a:solidFill>
                  <a:srgbClr val="9B1A2F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Общий принцип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1088136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Интерфейс связывает байты, выбранное поле, правило и результат проверки — чтобы проследить, откуда взялся вывод.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806440"/>
            <a:ext cx="10972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AEA8A5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Это не автоматическое угадывание истины: исследователь формулирует гипотезу, а приложение помогает проверить её на данных.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1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1">
                <a:solidFill>
                  <a:srgbClr val="EBEBEB"/>
                </a:solidFill>
                <a:latin typeface="Aptos"/>
              </a:rPr>
              <a:t>ЛОГИКА РАБОТЫ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700" b="1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Путь от байтов к правилу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24712"/>
            <a:ext cx="1106424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AEA8A5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Каждый шаг отвечает на вопрос, возникший на предыдущем.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493008" cy="1417320"/>
          </a:xfrm>
          <a:prstGeom prst="roundRect">
            <a:avLst/>
          </a:prstGeom>
          <a:solidFill>
            <a:srgbClr val="1F1C1C"/>
          </a:solidFill>
          <a:ln>
            <a:solidFill>
              <a:srgbClr val="4A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19656"/>
            <a:ext cx="384048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9B1A2F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837944"/>
            <a:ext cx="269748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Открыть захват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86000"/>
            <a:ext cx="315468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0">
                <a:solidFill>
                  <a:srgbClr val="AEA8A5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Загрузить PCAP/PCAPNG и выбрать TCP-сессию.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1" y="1691640"/>
            <a:ext cx="3493008" cy="1417320"/>
          </a:xfrm>
          <a:prstGeom prst="roundRect">
            <a:avLst/>
          </a:prstGeom>
          <a:solidFill>
            <a:srgbClr val="1F1C1C"/>
          </a:solidFill>
          <a:ln>
            <a:solidFill>
              <a:srgbClr val="4A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19656"/>
            <a:ext cx="384048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9B1A2F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65192" y="1837944"/>
            <a:ext cx="269748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Изучить сообщения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3" y="2286000"/>
            <a:ext cx="315468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0">
                <a:solidFill>
                  <a:srgbClr val="AEA8A5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Сопоставить повторяющиеся байты, длины и различия.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3" y="1691640"/>
            <a:ext cx="3493008" cy="1417320"/>
          </a:xfrm>
          <a:prstGeom prst="roundRect">
            <a:avLst/>
          </a:prstGeom>
          <a:solidFill>
            <a:srgbClr val="1F1C1C"/>
          </a:solidFill>
          <a:ln>
            <a:solidFill>
              <a:srgbClr val="4A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7" y="1819656"/>
            <a:ext cx="384048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9B1A2F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384" y="1837944"/>
            <a:ext cx="269748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Сформулировать гипотезу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286000"/>
            <a:ext cx="315468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0">
                <a:solidFill>
                  <a:srgbClr val="AEA8A5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Например: байты по смещению N могут быть длиной или кодом команды.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20440"/>
            <a:ext cx="3493008" cy="1417320"/>
          </a:xfrm>
          <a:prstGeom prst="roundRect">
            <a:avLst/>
          </a:prstGeom>
          <a:solidFill>
            <a:srgbClr val="1F1C1C"/>
          </a:solidFill>
          <a:ln>
            <a:solidFill>
              <a:srgbClr val="4A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648456"/>
            <a:ext cx="384048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9B1A2F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666744"/>
            <a:ext cx="269748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Описать правило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114800"/>
            <a:ext cx="315468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0">
                <a:solidFill>
                  <a:srgbClr val="AEA8A5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Задать смещение, размер, тип чтения и допустимые значения.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1" y="3520440"/>
            <a:ext cx="3493008" cy="1417320"/>
          </a:xfrm>
          <a:prstGeom prst="roundRect">
            <a:avLst/>
          </a:prstGeom>
          <a:solidFill>
            <a:srgbClr val="1F1C1C"/>
          </a:solidFill>
          <a:ln>
            <a:solidFill>
              <a:srgbClr val="4A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7136" y="3648456"/>
            <a:ext cx="384048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9B1A2F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65192" y="3666744"/>
            <a:ext cx="269748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Проверить корпус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5423" y="4114800"/>
            <a:ext cx="315468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0">
                <a:solidFill>
                  <a:srgbClr val="AEA8A5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Запустить правило и изучить несовпадения.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3" y="3520440"/>
            <a:ext cx="3493008" cy="1417320"/>
          </a:xfrm>
          <a:prstGeom prst="roundRect">
            <a:avLst/>
          </a:prstGeom>
          <a:solidFill>
            <a:srgbClr val="1F1C1C"/>
          </a:solidFill>
          <a:ln>
            <a:solidFill>
              <a:srgbClr val="4A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9327" y="3648456"/>
            <a:ext cx="384048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9B1A2F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87384" y="3666744"/>
            <a:ext cx="269748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Уточнить и сравнить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4114800"/>
            <a:ext cx="315468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0">
                <a:solidFill>
                  <a:srgbClr val="AEA8A5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Исправить гипотезу, сравнить версии и сохранить отчёт.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715000"/>
            <a:ext cx="1097280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1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Главная мысль: мы проверяем объяснение структуры на нескольких сессиях и видим, где оно ломается.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1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1">
                <a:solidFill>
                  <a:srgbClr val="EBEBEB"/>
                </a:solidFill>
                <a:latin typeface="Aptos"/>
              </a:rPr>
              <a:t>РЕЖИМЫ И ИНСТРУМЕНТЫ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700" b="1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Не только просмотр HEX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24712"/>
            <a:ext cx="1106424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AEA8A5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Инструменты помогают учиться читать трафик, проверять идеи и объяснять результат.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1600200"/>
          </a:xfrm>
          <a:prstGeom prst="roundRect">
            <a:avLst/>
          </a:prstGeom>
          <a:solidFill>
            <a:srgbClr val="1F1C1C"/>
          </a:solidFill>
          <a:ln w="10160">
            <a:solidFill>
              <a:srgbClr val="4A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73936"/>
            <a:ext cx="32461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9B1A2F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РЕЖИМ ОБУЧЕНИЯ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176272"/>
            <a:ext cx="3246120" cy="9784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Пошаговые задания ведут от выбора сессии к проверке правила.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45920"/>
            <a:ext cx="3566160" cy="1600200"/>
          </a:xfrm>
          <a:prstGeom prst="roundRect">
            <a:avLst/>
          </a:prstGeom>
          <a:solidFill>
            <a:srgbClr val="1F1C1C"/>
          </a:solidFill>
          <a:ln w="10160">
            <a:solidFill>
              <a:srgbClr val="4A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773936"/>
            <a:ext cx="32461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4E9170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АНАЛИЗ И ГИПОТЕЗЫ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2176272"/>
            <a:ext cx="3246120" cy="9784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Сравнение сообщений, смещений и вариантов чтения полей помогают находить закономерности.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645920"/>
            <a:ext cx="3566160" cy="1600200"/>
          </a:xfrm>
          <a:prstGeom prst="roundRect">
            <a:avLst/>
          </a:prstGeom>
          <a:solidFill>
            <a:srgbClr val="1F1C1C"/>
          </a:solidFill>
          <a:ln w="10160">
            <a:solidFill>
              <a:srgbClr val="4A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773936"/>
            <a:ext cx="32461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9B1A2F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КОНТРПРИМЕРЫ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176272"/>
            <a:ext cx="3246120" cy="9784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Показываются сообщения, где правило не сработало, и причина несовпадения.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66160"/>
            <a:ext cx="3566160" cy="1417320"/>
          </a:xfrm>
          <a:prstGeom prst="roundRect">
            <a:avLst/>
          </a:prstGeom>
          <a:solidFill>
            <a:srgbClr val="1F1C1C"/>
          </a:solidFill>
          <a:ln w="10160">
            <a:solidFill>
              <a:srgbClr val="4A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694176"/>
            <a:ext cx="32461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9B1A2F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СРАВНЕНИЕ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096511"/>
            <a:ext cx="3246120" cy="7955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Сопоставление сообщений по смещениям: совпавшие и различающиеся байты.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3566160"/>
            <a:ext cx="3566160" cy="1417320"/>
          </a:xfrm>
          <a:prstGeom prst="roundRect">
            <a:avLst/>
          </a:prstGeom>
          <a:solidFill>
            <a:srgbClr val="1F1C1C"/>
          </a:solidFill>
          <a:ln w="10160">
            <a:solidFill>
              <a:srgbClr val="4A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3694176"/>
            <a:ext cx="32461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9B1A2F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ВЕРСИИ ПРАВИЛ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4096511"/>
            <a:ext cx="3246120" cy="7955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Сравнение версий: какие контрпримеры устранены и не появились ли новые.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83296" y="3566160"/>
            <a:ext cx="3566160" cy="1417320"/>
          </a:xfrm>
          <a:prstGeom prst="roundRect">
            <a:avLst/>
          </a:prstGeom>
          <a:solidFill>
            <a:srgbClr val="1F1C1C"/>
          </a:solidFill>
          <a:ln w="10160">
            <a:solidFill>
              <a:srgbClr val="4A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3694176"/>
            <a:ext cx="32461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9B1A2F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ОТЧЁТЫ И ЭКСПОРТ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4096511"/>
            <a:ext cx="3246120" cy="7955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Фиксация результатов проверки и сохранение артефактов.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623560"/>
            <a:ext cx="10972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AEA8A5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Режим обучения — отдельный сценарий показа; исследовательский режим остаётся основным рабочим пространством.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1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1">
                <a:solidFill>
                  <a:srgbClr val="EBEBEB"/>
                </a:solidFill>
                <a:latin typeface="Aptos"/>
              </a:rPr>
              <a:t>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700" b="1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Сквозной сценарий анализа протокола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24712"/>
            <a:ext cx="1106424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AEA8A5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Вместо скринкаста — реальные экраны приложения.</a:t>
            </a:r>
          </a:p>
        </p:txBody>
      </p:sp>
      <p:pic>
        <p:nvPicPr>
          <p:cNvPr id="6" name="Picture 5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920" y="1600200"/>
            <a:ext cx="4145280" cy="2331720"/>
          </a:xfrm>
          <a:prstGeom prst="rect">
            <a:avLst/>
          </a:prstGeom>
        </p:spPr>
      </p:pic>
      <p:pic>
        <p:nvPicPr>
          <p:cNvPr id="7" name="Picture 6" descr="_fixed_crop_IMG_20261016_113518_941.jp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5634" y="1600200"/>
            <a:ext cx="4116691" cy="2331720"/>
          </a:xfrm>
          <a:prstGeom prst="rect">
            <a:avLst/>
          </a:prstGeom>
        </p:spPr>
      </p:pic>
      <p:pic>
        <p:nvPicPr>
          <p:cNvPr id="8" name="Picture 7" descr="05_vali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6440" y="4160520"/>
            <a:ext cx="2682240" cy="1508760"/>
          </a:xfrm>
          <a:prstGeom prst="rect">
            <a:avLst/>
          </a:prstGeom>
        </p:spPr>
      </p:pic>
      <p:pic>
        <p:nvPicPr>
          <p:cNvPr id="9" name="Picture 8" descr="_fixed_crop_IMG_20261016_113445_689.jp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2109" y="4160520"/>
            <a:ext cx="2663741" cy="1508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989320"/>
            <a:ext cx="109728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EBE8E6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1. Сессия  →  2. Байты  →  3. Правило  →  4. Проверка  →  5. Контрпример</a:t>
            </a:r>
          </a:p>
        </p:txBody>
      </p:sp>
      <p:pic>
        <p:nvPicPr>
          <p:cNvPr id="11" name="Picture 10" descr="IMG_20261016_113445_689_ap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9320" y="1600200"/>
            <a:ext cx="5623560" cy="33375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989320" y="4983480"/>
            <a:ext cx="5623560" cy="384048"/>
          </a:xfrm>
          <a:prstGeom prst="rect">
            <a:avLst/>
          </a:prstGeom>
          <a:solidFill>
            <a:srgbClr val="19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E1E4EB"/>
                </a:solidFill>
                <a:latin typeface="Aptos"/>
              </a:rPr>
              <a:t>Режим обучения: шаги задания и проверка правила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55680" cy="256032"/>
          </a:xfrm>
          <a:prstGeom prst="rect">
            <a:avLst/>
          </a:prstGeom>
          <a:solidFill>
            <a:srgbClr val="DC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r>
              <a:t>ПРИЛОЖЕНИЕ · ЭКРАНЫ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>
                <a:solidFill>
                  <a:srgbClr val="EBEDF2"/>
                </a:solidFill>
              </a:rPr>
              <a:t>От общего окна к выбору TCP-сессии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24712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>
                <a:solidFill>
                  <a:srgbClr val="EBEDF2"/>
                </a:solidFill>
              </a:rPr>
              <a:t>Сначала выбираем поток и направление обмена, затем переходим к его содержимому.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261872"/>
            <a:ext cx="1097280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475488" y="6601968"/>
            <a:ext cx="11201400" cy="10972"/>
          </a:xfrm>
          <a:prstGeom prst="rect">
            <a:avLst/>
          </a:prstGeom>
          <a:solidFill>
            <a:srgbClr val="46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960"/>
            <a:ext cx="5394960" cy="3035808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65960"/>
            <a:ext cx="5394960" cy="3035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102352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BEBEBE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Рабочее пространство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5102352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BEBEBE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Выбор потока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55680" cy="256032"/>
          </a:xfrm>
          <a:prstGeom prst="rect">
            <a:avLst/>
          </a:prstGeom>
          <a:solidFill>
            <a:srgbClr val="DC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r>
              <a:t>ПРИЛОЖЕНИЕ · ЭКРАНЫ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>
                <a:solidFill>
                  <a:srgbClr val="EBEDF2"/>
                </a:solidFill>
              </a:rPr>
              <a:t>HEX-анализ и формализация гипотезы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24712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>
                <a:solidFill>
                  <a:srgbClr val="EBEDF2"/>
                </a:solidFill>
              </a:rPr>
              <a:t>Смотрим байты и задаём проверяемое правило: смещение, размер, тип и ожидаемое значение.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261872"/>
            <a:ext cx="1097280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475488" y="6601968"/>
            <a:ext cx="11201400" cy="10972"/>
          </a:xfrm>
          <a:prstGeom prst="rect">
            <a:avLst/>
          </a:prstGeom>
          <a:solidFill>
            <a:srgbClr val="46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960"/>
            <a:ext cx="5394960" cy="3035808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65960"/>
            <a:ext cx="5394960" cy="3035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102352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BEBEBE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Сообщение на уровне байтов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5102352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BEBEBE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Формализация гипотезы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55680" cy="256032"/>
          </a:xfrm>
          <a:prstGeom prst="rect">
            <a:avLst/>
          </a:prstGeom>
          <a:solidFill>
            <a:srgbClr val="DC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r>
              <a:t>ПРИЛОЖЕНИЕ · ЭКРАНЫ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>
                <a:solidFill>
                  <a:srgbClr val="EBEDF2"/>
                </a:solidFill>
              </a:rPr>
              <a:t>Проверка правила и сравнение сообщений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24712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>
                <a:solidFill>
                  <a:srgbClr val="EBEDF2"/>
                </a:solidFill>
              </a:rPr>
              <a:t>Прогон показывает, где правило работает; сравнение помогает заметить различия между сообщениями.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261872"/>
            <a:ext cx="1097280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475488" y="6601968"/>
            <a:ext cx="11201400" cy="10972"/>
          </a:xfrm>
          <a:prstGeom prst="rect">
            <a:avLst/>
          </a:prstGeom>
          <a:solidFill>
            <a:srgbClr val="46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960"/>
            <a:ext cx="5394960" cy="3035808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65960"/>
            <a:ext cx="5394960" cy="3035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102352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BEBEBE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Прогон правила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5102352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BEBEBE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Сопоставление сообщений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55680" cy="256032"/>
          </a:xfrm>
          <a:prstGeom prst="rect">
            <a:avLst/>
          </a:prstGeom>
          <a:solidFill>
            <a:srgbClr val="DC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r>
              <a:t>ПРИЛОЖЕНИЕ · ЭКРАНЫ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>
                <a:solidFill>
                  <a:srgbClr val="EBEDF2"/>
                </a:solidFill>
              </a:rPr>
              <a:t>Контрпримеры и происхождение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24712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>
                <a:solidFill>
                  <a:srgbClr val="EBEDF2"/>
                </a:solidFill>
              </a:rPr>
              <a:t>Несовпадения помогают уточнить гипотезу, а связь с исходными данными позволяет проверить вывод.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261872"/>
            <a:ext cx="1097280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475488" y="6601968"/>
            <a:ext cx="11201400" cy="10972"/>
          </a:xfrm>
          <a:prstGeom prst="rect">
            <a:avLst/>
          </a:prstGeom>
          <a:solidFill>
            <a:srgbClr val="46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960"/>
            <a:ext cx="5394960" cy="3035808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65960"/>
            <a:ext cx="5394960" cy="3035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102352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BEBEBE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Где гипотеза не сработала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5102352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BEBEBE"/>
                </a:solidFill>
                <a:latin typeface="Aptos"/>
              </a:defRPr>
            </a:pPr>
            <a:r>
              <a:rPr>
                <a:solidFill>
                  <a:srgbClr val="EBEDF2"/>
                </a:solidFill>
              </a:rPr>
              <a:t>Связь вывода с исходными данными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E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ig-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E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ig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solidFill>
            <a:srgbClr val="11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448056"/>
            <a:ext cx="7772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8B97AE"/>
                </a:solidFill>
                <a:latin typeface="DejaVu Sans Mono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