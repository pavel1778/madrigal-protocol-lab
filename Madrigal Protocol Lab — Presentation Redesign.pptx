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</ns0:sldIdLst>
  <ns0:sldSz cx="12192000" cy="6858000" type="screen4x3"/>
  <ns0:notesSz cx="6858000" cy="9144000"/>
  <ns0:embeddedFontLst>
    <ns0:embeddedFont>
      <ns0:font typeface="JetBrains Mono"/>
      <ns0:bold ns1:id="rIdFont19"/>
      <ns0:regular ns1:id="rIdFont20"/>
    </ns0:embeddedFont>
    <ns0:embeddedFont>
      <ns0:font typeface="Plus Jakarta Sans"/>
      <ns0:bold ns1:id="rIdFont21"/>
      <ns0:regular ns1:id="rIdFont22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Font19" Type="http://schemas.openxmlformats.org/officeDocument/2006/relationships/font" Target="fonts/af962120-d208-4a58-a261-5cf14c1b4026.fntdata" /><ns0:Relationship Id="rIdFont20" Type="http://schemas.openxmlformats.org/officeDocument/2006/relationships/font" Target="fonts/5b074cd2-69fe-4352-9447-ad4bf0e0b247.fntdata" /><ns0:Relationship Id="rIdFont21" Type="http://schemas.openxmlformats.org/officeDocument/2006/relationships/font" Target="fonts/35ea9105-eacc-46e0-a413-b97cd377628d.fntdata" /><ns0:Relationship Id="rIdFont22" Type="http://schemas.openxmlformats.org/officeDocument/2006/relationships/font" Target="fonts/db0520af-2c31-4b80-851a-5362c7509dff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Relationship Id="rId9" Type="http://schemas.openxmlformats.org/officeDocument/2006/relationships/image" Target="../media/image1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335535"/>
            <a:ext cx="10972800" cy="1447800"/>
          </a:xfrm>
          <a:prstGeom prst="roundRect">
            <a:avLst>
              <a:gd name="adj" fmla="val 10526"/>
            </a:avLst>
          </a:prstGeom>
          <a:solidFill>
            <a:srgbClr val="1A2436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5867400"/>
            <a:ext cx="1097280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1237" y="3773685"/>
            <a:ext cx="9525" cy="57150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5867400"/>
            <a:ext cx="109728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9600" y="609600"/>
            <a:ext cx="2153245" cy="247650"/>
          </a:xfrm>
          <a:prstGeom prst="roundRect">
            <a:avLst>
              <a:gd name="adj" fmla="val 23076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58350" y="609600"/>
            <a:ext cx="19240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1" sz="1500" i="0" u="none">
                <a:solidFill>
                  <a:srgbClr val="38BDF8"/>
                </a:solidFill>
                <a:latin typeface="Plus Jakarta Sans"/>
              </a:rPr>
              <a:t>Команда HTTP 418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067425"/>
            <a:ext cx="4808264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Plus Jakarta Sans"/>
              </a:rPr>
              <a:t>Лаборатория протоколов · Восстановление спецификации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9000" y="6072187"/>
            <a:ext cx="8191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JetBrains Mono"/>
              </a:rPr>
              <a:t>01 /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3900" y="647700"/>
            <a:ext cx="201989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766E"/>
                </a:solidFill>
                <a:latin typeface="Plus Jakarta Sans"/>
              </a:rPr>
              <a:t>UMIRHACK 2026 · КЕЙС #02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1162050"/>
            <a:ext cx="4210526" cy="10894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290"/>
              </a:lnSpc>
            </a:pPr>
            <a:r>
              <a:rPr b="1" sz="3900" i="0" u="none">
                <a:solidFill>
                  <a:srgbClr val="F8FAFC"/>
                </a:solidFill>
                <a:latin typeface="Plus Jakarta Sans"/>
              </a:rPr>
              <a:t>MADRIGAL</a:t>
            </a:r>
            <a:r>
              <a:t>
</a:t>
            </a:r>
            <a:r>
              <a:rPr b="1" sz="3900" i="0" u="none">
                <a:solidFill>
                  <a:srgbClr val="14B8A6"/>
                </a:solidFill>
                <a:latin typeface="Plus Jakarta Sans"/>
              </a:rPr>
              <a:t>PROTOCOL LAB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925" y="3649860"/>
            <a:ext cx="598289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94A3B8"/>
                </a:solidFill>
                <a:latin typeface="Plus Jakarta Sans"/>
              </a:rPr>
              <a:t>ЗАДАЧА КЕЙСА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925" y="3878460"/>
            <a:ext cx="5125640" cy="590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F1F5F9"/>
                </a:solidFill>
                <a:latin typeface="Plus Jakarta Sans"/>
              </a:rPr>
              <a:t>Восстановление недокументированного бинарного протокола поверх TCP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1762" y="3726060"/>
            <a:ext cx="571023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94A3B8"/>
                </a:solidFill>
                <a:latin typeface="Plus Jakarta Sans"/>
              </a:rPr>
              <a:t>СТЕК ТЕХНОЛОГИЙ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1762" y="3954660"/>
            <a:ext cx="4881562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8BDF8"/>
                </a:solidFill>
                <a:latin typeface="JetBrains Mono"/>
              </a:rPr>
              <a:t>Python 3.12 · PySide6 · dpkt · pytest · Docker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609600"/>
            <a:ext cx="942082" cy="247650"/>
          </a:xfrm>
          <a:prstGeom prst="roundRect">
            <a:avLst>
              <a:gd name="adj" fmla="val 23076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81100" y="2967037"/>
            <a:ext cx="4762500" cy="1495425"/>
          </a:xfrm>
          <a:prstGeom prst="roundRect">
            <a:avLst>
              <a:gd name="adj" fmla="val 764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48400" y="2967037"/>
            <a:ext cx="4762500" cy="1495425"/>
          </a:xfrm>
          <a:prstGeom prst="roundRect">
            <a:avLst>
              <a:gd name="adj" fmla="val 764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581275" y="3929062"/>
            <a:ext cx="1102221" cy="219075"/>
          </a:xfrm>
          <a:prstGeom prst="roundRect">
            <a:avLst>
              <a:gd name="adj" fmla="val 26086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759696" y="3929062"/>
            <a:ext cx="711100" cy="219075"/>
          </a:xfrm>
          <a:prstGeom prst="roundRect">
            <a:avLst>
              <a:gd name="adj" fmla="val 26086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46996" y="3929062"/>
            <a:ext cx="995511" cy="219075"/>
          </a:xfrm>
          <a:prstGeom prst="roundRect">
            <a:avLst>
              <a:gd name="adj" fmla="val 26086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648575" y="3929062"/>
            <a:ext cx="820340" cy="219075"/>
          </a:xfrm>
          <a:prstGeom prst="roundRect">
            <a:avLst>
              <a:gd name="adj" fmla="val 26086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545115" y="3929062"/>
            <a:ext cx="659903" cy="219075"/>
          </a:xfrm>
          <a:prstGeom prst="roundRect">
            <a:avLst>
              <a:gd name="adj" fmla="val 26086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281219" y="3929062"/>
            <a:ext cx="687585" cy="219075"/>
          </a:xfrm>
          <a:prstGeom prst="roundRect">
            <a:avLst>
              <a:gd name="adj" fmla="val 26086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5425" y="3286125"/>
            <a:ext cx="857250" cy="8572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2725" y="3286125"/>
            <a:ext cx="857250" cy="8572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9737" y="3543300"/>
            <a:ext cx="428625" cy="3429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9900" y="3543300"/>
            <a:ext cx="342900" cy="3429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23900" y="647700"/>
            <a:ext cx="808732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E40AF"/>
                </a:solidFill>
                <a:latin typeface="Plus Jakarta Sans"/>
              </a:rPr>
              <a:t>КОМАНДА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971550"/>
            <a:ext cx="115824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Участники разработки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-381000" y="6019800"/>
            <a:ext cx="12954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64748B"/>
                </a:solidFill>
                <a:latin typeface="Plus Jakarta Sans"/>
              </a:rPr>
              <a:t>Компактная команда из 2 человек с четким разделением зон ответственности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81275" y="3281362"/>
            <a:ext cx="3886618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Plus Jakarta Sans"/>
              </a:rPr>
              <a:t>Сабадаш Павел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81275" y="3614737"/>
            <a:ext cx="370154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2563EB"/>
                </a:solidFill>
                <a:latin typeface="JetBrains Mono"/>
              </a:rPr>
              <a:t>@Pasha1778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48575" y="3281362"/>
            <a:ext cx="3045302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Plus Jakarta Sans"/>
              </a:rPr>
              <a:t>Предков Никита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48575" y="3614737"/>
            <a:ext cx="290028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2563EB"/>
                </a:solidFill>
                <a:latin typeface="JetBrains Mono"/>
              </a:rPr>
              <a:t>@petruan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95575" y="3967162"/>
            <a:ext cx="968871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475569"/>
                </a:solidFill>
                <a:latin typeface="Plus Jakarta Sans"/>
              </a:rPr>
              <a:t>АРХИТЕКТУРА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73996" y="3967162"/>
            <a:ext cx="5777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475569"/>
                </a:solidFill>
                <a:latin typeface="Plus Jakarta Sans"/>
              </a:rPr>
              <a:t>ЗАХВАТ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1296" y="3967162"/>
            <a:ext cx="862161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475569"/>
                </a:solidFill>
                <a:latin typeface="Plus Jakarta Sans"/>
              </a:rPr>
              <a:t>ИНТЕРФЕЙС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62875" y="3967162"/>
            <a:ext cx="68699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475569"/>
                </a:solidFill>
                <a:latin typeface="Plus Jakarta Sans"/>
              </a:rPr>
              <a:t>ПРАВИЛА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59415" y="3967162"/>
            <a:ext cx="526553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475569"/>
                </a:solidFill>
                <a:latin typeface="Plus Jakarta Sans"/>
              </a:rPr>
              <a:t>ТЕСТЫ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95519" y="3967162"/>
            <a:ext cx="55423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475569"/>
                </a:solidFill>
                <a:latin typeface="Plus Jakarta Sans"/>
              </a:rPr>
              <a:t>РЕВЬЮ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538412"/>
            <a:ext cx="10972800" cy="2847975"/>
          </a:xfrm>
          <a:prstGeom prst="roundRect">
            <a:avLst>
              <a:gd name="adj" fmla="val 4013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609600"/>
            <a:ext cx="1331267" cy="247650"/>
          </a:xfrm>
          <a:prstGeom prst="roundRect">
            <a:avLst>
              <a:gd name="adj" fmla="val 23076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00125" y="4157662"/>
            <a:ext cx="10191750" cy="838200"/>
          </a:xfrm>
          <a:prstGeom prst="roundRect">
            <a:avLst>
              <a:gd name="adj" fmla="val 909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00125" y="2928937"/>
            <a:ext cx="2576512" cy="923925"/>
          </a:xfrm>
          <a:prstGeom prst="roundRect">
            <a:avLst>
              <a:gd name="adj" fmla="val 12371"/>
            </a:avLst>
          </a:prstGeom>
          <a:solidFill>
            <a:srgbClr val="0F172A"/>
          </a:solidFill>
          <a:ln w="19050">
            <a:solidFill>
              <a:srgbClr val="EAB3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729037" y="2957512"/>
            <a:ext cx="2576512" cy="866775"/>
          </a:xfrm>
          <a:prstGeom prst="roundRect">
            <a:avLst>
              <a:gd name="adj" fmla="val 13186"/>
            </a:avLst>
          </a:prstGeom>
          <a:solidFill>
            <a:srgbClr val="0F172A"/>
          </a:solidFill>
          <a:ln w="19050">
            <a:solidFill>
              <a:srgbClr val="EAB3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57950" y="2928937"/>
            <a:ext cx="4733925" cy="923925"/>
          </a:xfrm>
          <a:prstGeom prst="roundRect">
            <a:avLst>
              <a:gd name="adj" fmla="val 12371"/>
            </a:avLst>
          </a:prstGeom>
          <a:solidFill>
            <a:srgbClr val="0F172A"/>
          </a:solidFill>
          <a:ln w="1905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00125" y="4157662"/>
            <a:ext cx="38100" cy="83820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3900" y="647700"/>
            <a:ext cx="1197917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92400E"/>
                </a:solidFill>
                <a:latin typeface="Plus Jakarta Sans"/>
              </a:rPr>
              <a:t>ПРОБЛЕМА TCP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971550"/>
            <a:ext cx="115824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TCP разрезает сообщения посередине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1447800"/>
            <a:ext cx="115824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Plus Jakarta Sans"/>
              </a:rPr>
              <a:t>Границы пакета и границы логического сообщения — разные вещи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560" y="3119437"/>
            <a:ext cx="2839640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EAB308"/>
                </a:solidFill>
                <a:latin typeface="Plus Jakarta Sans"/>
              </a:rPr>
              <a:t>Пакет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7473" y="3148012"/>
            <a:ext cx="283964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EAB308"/>
                </a:solidFill>
                <a:latin typeface="Plus Jakarta Sans"/>
              </a:rPr>
              <a:t>Пакет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56709" y="3119437"/>
            <a:ext cx="5536406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06B6D4"/>
                </a:solidFill>
                <a:latin typeface="Plus Jakarta Sans"/>
              </a:rPr>
              <a:t>Пакет 3 (Большая датаграмма)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28725" y="4348162"/>
            <a:ext cx="98679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F8FAFC"/>
                </a:solidFill>
                <a:latin typeface="Plus Jakarta Sans"/>
              </a:rPr>
              <a:t>Ключевая сложность:</a:t>
            </a:r>
            <a:r>
              <a:rPr b="0" sz="1200" i="0" u="none">
                <a:solidFill>
                  <a:srgbClr val="CBD5E1"/>
                </a:solidFill>
                <a:latin typeface="Plus Jakarta Sans"/>
              </a:rPr>
              <a:t> Поток TCP не сохраняет границы сообщений. Необработанный сегмент может содержать как часть одного сообщения, так и сразу несколько полных команд.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9998" y="3414712"/>
            <a:ext cx="269676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10B981"/>
                </a:solidFill>
                <a:latin typeface="Plus Jakarta Sans"/>
              </a:rPr>
              <a:t>Сообщение 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8910" y="3443287"/>
            <a:ext cx="269676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EF4444"/>
                </a:solidFill>
                <a:latin typeface="Plus Jakarta Sans"/>
              </a:rPr>
              <a:t>[Разрыв]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8146" y="3414712"/>
            <a:ext cx="5393531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F59E0B"/>
                </a:solidFill>
                <a:latin typeface="Plus Jakarta Sans"/>
              </a:rPr>
              <a:t>Сообщение B (Продолжение)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438775"/>
            <a:ext cx="10972800" cy="809625"/>
          </a:xfrm>
          <a:prstGeom prst="roundRect">
            <a:avLst>
              <a:gd name="adj" fmla="val 14117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609600"/>
            <a:ext cx="1321147" cy="247650"/>
          </a:xfrm>
          <a:prstGeom prst="roundRect">
            <a:avLst>
              <a:gd name="adj" fmla="val 23076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2576512"/>
            <a:ext cx="5372100" cy="1695450"/>
          </a:xfrm>
          <a:prstGeom prst="roundRect">
            <a:avLst>
              <a:gd name="adj" fmla="val 674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10300" y="2576512"/>
            <a:ext cx="5372100" cy="1695450"/>
          </a:xfrm>
          <a:prstGeom prst="roundRect">
            <a:avLst>
              <a:gd name="adj" fmla="val 674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4262437"/>
            <a:ext cx="53721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2576512"/>
            <a:ext cx="5372100" cy="3810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" y="2576512"/>
            <a:ext cx="9525" cy="16954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72175" y="2576512"/>
            <a:ext cx="9525" cy="16954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0300" y="4262437"/>
            <a:ext cx="53721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0300" y="2576512"/>
            <a:ext cx="537210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0300" y="2576512"/>
            <a:ext cx="9525" cy="16954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572875" y="2576512"/>
            <a:ext cx="9525" cy="16954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96275" y="5686425"/>
            <a:ext cx="381000" cy="314325"/>
          </a:xfrm>
          <a:prstGeom prst="roundRect">
            <a:avLst>
              <a:gd name="adj" fmla="val 18181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743950" y="5686425"/>
            <a:ext cx="381000" cy="314325"/>
          </a:xfrm>
          <a:prstGeom prst="roundRect">
            <a:avLst>
              <a:gd name="adj" fmla="val 18181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191625" y="5686425"/>
            <a:ext cx="381000" cy="314325"/>
          </a:xfrm>
          <a:prstGeom prst="roundRect">
            <a:avLst>
              <a:gd name="adj" fmla="val 18181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39300" y="5686425"/>
            <a:ext cx="381000" cy="314325"/>
          </a:xfrm>
          <a:prstGeom prst="roundRect">
            <a:avLst>
              <a:gd name="adj" fmla="val 18181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086975" y="5686425"/>
            <a:ext cx="381000" cy="314325"/>
          </a:xfrm>
          <a:prstGeom prst="roundRect">
            <a:avLst>
              <a:gd name="adj" fmla="val 18181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534650" y="5686425"/>
            <a:ext cx="381000" cy="314325"/>
          </a:xfrm>
          <a:prstGeom prst="roundRect">
            <a:avLst>
              <a:gd name="adj" fmla="val 18181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982325" y="5686425"/>
            <a:ext cx="381000" cy="314325"/>
          </a:xfrm>
          <a:prstGeom prst="roundRect">
            <a:avLst>
              <a:gd name="adj" fmla="val 18181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3233737"/>
            <a:ext cx="114300" cy="1524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725" y="3548062"/>
            <a:ext cx="152400" cy="1524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725" y="3862387"/>
            <a:ext cx="152400" cy="1524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8425" y="3233737"/>
            <a:ext cx="152400" cy="1524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8425" y="3548062"/>
            <a:ext cx="152400" cy="15240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8425" y="3862387"/>
            <a:ext cx="133350" cy="1524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23900" y="647700"/>
            <a:ext cx="1187797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E40AF"/>
                </a:solidFill>
                <a:latin typeface="Plus Jakarta Sans"/>
              </a:rPr>
              <a:t>МЕТОДОЛОГИЯ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9600" y="971550"/>
            <a:ext cx="115824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Дано и Требуется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7725" y="2843212"/>
            <a:ext cx="6425803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ДАНО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8425" y="2843212"/>
            <a:ext cx="574357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ТРЕБУЕТСЯ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9625" y="5638800"/>
            <a:ext cx="5060156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Plus Jakarta Sans"/>
              </a:rPr>
              <a:t>Уточнение гипотезы смещения (Length Offset)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9625" y="5848350"/>
            <a:ext cx="506015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8BDF8"/>
                </a:solidFill>
                <a:latin typeface="Plus Jakarta Sans"/>
              </a:rPr>
              <a:t>Смещение длины зафиксировано на offset 2 (2 байта)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91525" y="5743575"/>
            <a:ext cx="2857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FFFFF"/>
                </a:solidFill>
                <a:latin typeface="JetBrains Mono"/>
              </a:rPr>
              <a:t>01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39200" y="5743575"/>
            <a:ext cx="2857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8BDF8"/>
                </a:solidFill>
                <a:latin typeface="JetBrains Mono"/>
              </a:rPr>
              <a:t>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86875" y="5743575"/>
            <a:ext cx="2857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FFFFF"/>
                </a:solidFill>
                <a:latin typeface="JetBrains Mono"/>
              </a:rPr>
              <a:t>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34550" y="5743575"/>
            <a:ext cx="2857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FFFFF"/>
                </a:solidFill>
                <a:latin typeface="JetBrains Mono"/>
              </a:rPr>
              <a:t>03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82225" y="5743575"/>
            <a:ext cx="2857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8BDF8"/>
                </a:solidFill>
                <a:latin typeface="JetBrains Mono"/>
              </a:rPr>
              <a:t>13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29900" y="5743575"/>
            <a:ext cx="2857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8BDF8"/>
                </a:solidFill>
                <a:latin typeface="JetBrains Mono"/>
              </a:rPr>
              <a:t>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77575" y="5743575"/>
            <a:ext cx="2857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8BDF8"/>
                </a:solidFill>
                <a:latin typeface="JetBrains Mono"/>
              </a:rPr>
              <a:t>55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7725" y="3205162"/>
            <a:ext cx="6119812" cy="200025"/>
          </a:xfrm>
          <a:prstGeom prst="rect">
            <a:avLst/>
          </a:prstGeom>
          <a:noFill/>
        </p:spPr>
        <p:txBody>
          <a:bodyPr wrap="none" lIns="19050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Plus Jakarta Sans"/>
              </a:rPr>
              <a:t>Захваты трафика pcap / pcapng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7725" y="3519487"/>
            <a:ext cx="6119812" cy="200025"/>
          </a:xfrm>
          <a:prstGeom prst="rect">
            <a:avLst/>
          </a:prstGeom>
          <a:noFill/>
        </p:spPr>
        <p:txBody>
          <a:bodyPr wrap="none" lIns="22860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Plus Jakarta Sans"/>
              </a:rPr>
              <a:t>Журнал внешних действий устройства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7725" y="3833812"/>
            <a:ext cx="6119812" cy="200025"/>
          </a:xfrm>
          <a:prstGeom prst="rect">
            <a:avLst/>
          </a:prstGeom>
          <a:noFill/>
        </p:spPr>
        <p:txBody>
          <a:bodyPr wrap="none" lIns="22860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DC2626"/>
                </a:solidFill>
                <a:latin typeface="Plus Jakarta Sans"/>
              </a:rPr>
              <a:t>Спецификация протокола отсутствует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48425" y="3205162"/>
            <a:ext cx="5743575" cy="200025"/>
          </a:xfrm>
          <a:prstGeom prst="rect">
            <a:avLst/>
          </a:prstGeom>
          <a:noFill/>
        </p:spPr>
        <p:txBody>
          <a:bodyPr wrap="none" lIns="22860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Plus Jakarta Sans"/>
              </a:rPr>
              <a:t>Проверяемая структура сообщений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48425" y="3519487"/>
            <a:ext cx="5743575" cy="200025"/>
          </a:xfrm>
          <a:prstGeom prst="rect">
            <a:avLst/>
          </a:prstGeom>
          <a:noFill/>
        </p:spPr>
        <p:txBody>
          <a:bodyPr wrap="none" lIns="22860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Plus Jakarta Sans"/>
              </a:rPr>
              <a:t>Точная локализация ошибок чтения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48425" y="3833812"/>
            <a:ext cx="5743575" cy="200025"/>
          </a:xfrm>
          <a:prstGeom prst="rect">
            <a:avLst/>
          </a:prstGeom>
          <a:noFill/>
        </p:spPr>
        <p:txBody>
          <a:bodyPr wrap="none" lIns="20955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Plus Jakarta Sans"/>
              </a:rPr>
              <a:t>Автоматическое выявление версий v1/v2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838825"/>
            <a:ext cx="10972800" cy="409575"/>
          </a:xfrm>
          <a:prstGeom prst="roundRect">
            <a:avLst>
              <a:gd name="adj" fmla="val 18604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609600"/>
            <a:ext cx="1993403" cy="247650"/>
          </a:xfrm>
          <a:prstGeom prst="roundRect">
            <a:avLst>
              <a:gd name="adj" fmla="val 23076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2576512"/>
            <a:ext cx="3263949" cy="23622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454574" y="2576512"/>
            <a:ext cx="3282999" cy="23622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318599" y="2576512"/>
            <a:ext cx="3263949" cy="23622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47725" y="4395787"/>
            <a:ext cx="2787699" cy="304800"/>
          </a:xfrm>
          <a:prstGeom prst="roundRect">
            <a:avLst>
              <a:gd name="adj" fmla="val 1875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702224" y="4386262"/>
            <a:ext cx="2787699" cy="304800"/>
          </a:xfrm>
          <a:prstGeom prst="roundRect">
            <a:avLst>
              <a:gd name="adj" fmla="val 1875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556724" y="4395787"/>
            <a:ext cx="2787699" cy="304800"/>
          </a:xfrm>
          <a:prstGeom prst="roundRect">
            <a:avLst>
              <a:gd name="adj" fmla="val 1875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4049" y="3643312"/>
            <a:ext cx="200025" cy="2286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8074" y="3643312"/>
            <a:ext cx="200025" cy="2286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3375" y="2814637"/>
            <a:ext cx="476250" cy="4762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7875" y="2824162"/>
            <a:ext cx="476250" cy="4762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2374" y="2814637"/>
            <a:ext cx="476250" cy="4762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08150" y="2947987"/>
            <a:ext cx="266700" cy="2095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91225" y="2957512"/>
            <a:ext cx="209550" cy="2095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31437" y="2947987"/>
            <a:ext cx="238125" cy="2095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23900" y="647700"/>
            <a:ext cx="1860053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766E"/>
                </a:solidFill>
                <a:latin typeface="Plus Jakarta Sans"/>
              </a:rPr>
              <a:t>АРХИТЕКТУРА СИСТЕМЫ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971550"/>
            <a:ext cx="115824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Модули связаны контрактами JSON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0" y="1447800"/>
            <a:ext cx="115824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Plus Jakarta Sans"/>
              </a:rPr>
              <a:t>Слабая связность: порядок вызовов не имеет значения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-309562" y="5953125"/>
            <a:ext cx="1281112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334155"/>
                </a:solidFill>
                <a:latin typeface="Plus Jakarta Sans"/>
              </a:rPr>
              <a:t>Полный декуплинг: каждый модуль тестируется и запускается независимо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5462" y="4471987"/>
            <a:ext cx="3332224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00" i="0" u="none">
                <a:solidFill>
                  <a:srgbClr val="475569"/>
                </a:solidFill>
                <a:latin typeface="JetBrains Mono"/>
              </a:rPr>
              <a:t>JSON Schema 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29962" y="4462462"/>
            <a:ext cx="3332224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00" i="0" u="none">
                <a:solidFill>
                  <a:srgbClr val="475569"/>
                </a:solidFill>
                <a:latin typeface="JetBrains Mono"/>
              </a:rPr>
              <a:t>JSON Schema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4461" y="4471987"/>
            <a:ext cx="3332224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00" i="0" u="none">
                <a:solidFill>
                  <a:srgbClr val="475569"/>
                </a:solidFill>
                <a:latin typeface="JetBrains Mono"/>
              </a:rPr>
              <a:t>JSON Schema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2146" y="3443287"/>
            <a:ext cx="365885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Plus Jakarta Sans"/>
              </a:rPr>
              <a:t>capture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9262" y="3738562"/>
            <a:ext cx="3484624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0284C7"/>
                </a:solidFill>
                <a:latin typeface="JetBrains Mono"/>
              </a:rPr>
              <a:t>pcap / pcapng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9262" y="4014787"/>
            <a:ext cx="3484624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Plus Jakarta Sans"/>
              </a:rPr>
              <a:t>Сборка TCP-сессий, обработка provenance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66646" y="3452812"/>
            <a:ext cx="365885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Plus Jakarta Sans"/>
              </a:rPr>
              <a:t>reassembly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53762" y="3748087"/>
            <a:ext cx="3484624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D97706"/>
                </a:solidFill>
                <a:latin typeface="JetBrains Mono"/>
              </a:rPr>
              <a:t>protocol + hypothesis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53762" y="4024312"/>
            <a:ext cx="3484624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Plus Jakarta Sans"/>
              </a:rPr>
              <a:t>Правила фрейминга, поиск контрпримеров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21146" y="3443287"/>
            <a:ext cx="365885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Plus Jakarta Sans"/>
              </a:rPr>
              <a:t>ui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08261" y="3738562"/>
            <a:ext cx="3484624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16A34A"/>
                </a:solidFill>
                <a:latin typeface="JetBrains Mono"/>
              </a:rPr>
              <a:t>PySide6 Desktop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08261" y="4014787"/>
            <a:ext cx="3484624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Plus Jakarta Sans"/>
              </a:rPr>
              <a:t>Интерактивное исследование и просмотр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243137"/>
            <a:ext cx="10972800" cy="2647950"/>
          </a:xfrm>
          <a:prstGeom prst="roundRect">
            <a:avLst>
              <a:gd name="adj" fmla="val 4316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5724525"/>
            <a:ext cx="10972800" cy="523875"/>
          </a:xfrm>
          <a:prstGeom prst="roundRect">
            <a:avLst>
              <a:gd name="adj" fmla="val 21818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609600"/>
            <a:ext cx="1843533" cy="247650"/>
          </a:xfrm>
          <a:prstGeom prst="roundRect">
            <a:avLst>
              <a:gd name="adj" fmla="val 23076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85825" y="4138612"/>
            <a:ext cx="10420350" cy="476250"/>
          </a:xfrm>
          <a:prstGeom prst="roundRect">
            <a:avLst>
              <a:gd name="adj" fmla="val 1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5915025"/>
            <a:ext cx="190500" cy="152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23900" y="647700"/>
            <a:ext cx="1710183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E40AF"/>
                </a:solidFill>
                <a:latin typeface="Plus Jakarta Sans"/>
              </a:rPr>
              <a:t>ПРОСЛЕЖИВАЕМОСТЬ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971550"/>
            <a:ext cx="115824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Связь интерпретации с исходными байтами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5825" y="2919412"/>
            <a:ext cx="10515600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125" i="0" u="none">
                <a:solidFill>
                  <a:srgbClr val="64748B"/>
                </a:solidFill>
                <a:latin typeface="JetBrains Mono"/>
              </a:rPr>
              <a:t>00000010</a:t>
            </a:r>
            <a:r>
              <a:rPr b="0" sz="1125" i="0" u="none">
                <a:solidFill>
                  <a:srgbClr val="10B981"/>
                </a:solidFill>
                <a:latin typeface="JetBrains Mono"/>
              </a:rPr>
              <a:t> 00 00 01 10 01 00 00 01 11 01 00 00 01 12 01 00</a:t>
            </a:r>
            <a:r>
              <a:t>
</a:t>
            </a:r>
            <a:r>
              <a:rPr b="0" sz="1125" i="0" u="none">
                <a:solidFill>
                  <a:srgbClr val="64748B"/>
                </a:solidFill>
                <a:latin typeface="JetBrains Mono"/>
              </a:rPr>
              <a:t>00000020</a:t>
            </a:r>
            <a:r>
              <a:rPr b="0" sz="1125" i="0" u="none">
                <a:solidFill>
                  <a:srgbClr val="10B981"/>
                </a:solidFill>
                <a:latin typeface="JetBrains Mono"/>
              </a:rPr>
              <a:t> 00 01 10 01 00 00 01 11 01 00 00 01 12 01 00 00</a:t>
            </a:r>
            <a:r>
              <a:t>
</a:t>
            </a:r>
            <a:r>
              <a:rPr b="0" sz="1125" i="0" u="none">
                <a:solidFill>
                  <a:srgbClr val="64748B"/>
                </a:solidFill>
                <a:latin typeface="JetBrains Mono"/>
              </a:rPr>
              <a:t>00000030</a:t>
            </a:r>
            <a:r>
              <a:rPr b="0" sz="1125" i="0" u="none">
                <a:solidFill>
                  <a:srgbClr val="10B981"/>
                </a:solidFill>
                <a:latin typeface="JetBrains Mono"/>
              </a:rPr>
              <a:t> 01 10 01 00 00 01 11 01 00 00 01 12 01 00 00 01</a:t>
            </a:r>
            <a:r>
              <a:t>
</a:t>
            </a:r>
            <a:r>
              <a:rPr b="0" sz="1125" i="0" u="none">
                <a:solidFill>
                  <a:srgbClr val="64748B"/>
                </a:solidFill>
                <a:latin typeface="JetBrains Mono"/>
              </a:rPr>
              <a:t>00000040</a:t>
            </a:r>
            <a:r>
              <a:rPr b="0" sz="1125" i="0" u="none">
                <a:solidFill>
                  <a:srgbClr val="10B981"/>
                </a:solidFill>
                <a:latin typeface="JetBrains Mono"/>
              </a:rPr>
              <a:t> 10 01 00 00 01 11 01 00 00 01 12 01 00 00 01 10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5886450"/>
            <a:ext cx="11344275" cy="200025"/>
          </a:xfrm>
          <a:prstGeom prst="rect">
            <a:avLst/>
          </a:prstGeom>
          <a:noFill/>
        </p:spPr>
        <p:txBody>
          <a:bodyPr wrap="none" lIns="26670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66534"/>
                </a:solidFill>
                <a:latin typeface="Plus Jakarta Sans"/>
              </a:rPr>
              <a:t>Обратная навигация: Любое распаршенное поле кликабельно и подсвечивает точный диапазон байтов в pcap.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825" y="2519362"/>
            <a:ext cx="161925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JetBrains Mono"/>
              </a:rPr>
              <a:t>OFFSET / HEX DUMP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63175" y="2519362"/>
            <a:ext cx="142875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JetBrains Mono"/>
              </a:rPr>
              <a:t>PACKET METADATA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8225" y="4291012"/>
            <a:ext cx="9715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JetBrains Mono"/>
              </a:rPr>
              <a:t>Пакет:</a:t>
            </a:r>
            <a:r>
              <a:rPr b="0" sz="1050" i="0" u="none">
                <a:solidFill>
                  <a:srgbClr val="38BDF8"/>
                </a:solidFill>
                <a:latin typeface="JetBrains Mono"/>
              </a:rPr>
              <a:t> #3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28825" y="4291012"/>
            <a:ext cx="9715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JetBrains Mono"/>
              </a:rPr>
              <a:t>Seq:</a:t>
            </a:r>
            <a:r>
              <a:rPr b="0" sz="1050" i="0" u="none">
                <a:solidFill>
                  <a:srgbClr val="38BDF8"/>
                </a:solidFill>
                <a:latin typeface="JetBrains Mono"/>
              </a:rPr>
              <a:t> 1001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9425" y="4291012"/>
            <a:ext cx="23812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JetBrains Mono"/>
              </a:rPr>
              <a:t>Timestamp:</a:t>
            </a:r>
            <a:r>
              <a:rPr b="0" sz="1050" i="0" u="none">
                <a:solidFill>
                  <a:srgbClr val="38BDF8"/>
                </a:solidFill>
                <a:latin typeface="JetBrains Mono"/>
              </a:rPr>
              <a:t> 1700000000.004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29225" y="4291012"/>
            <a:ext cx="10477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JetBrains Mono"/>
              </a:rPr>
              <a:t>Сессия:</a:t>
            </a:r>
            <a:r>
              <a:rPr b="0" sz="1050" i="0" u="none">
                <a:solidFill>
                  <a:srgbClr val="38BDF8"/>
                </a:solidFill>
                <a:latin typeface="JetBrains Mono"/>
              </a:rPr>
              <a:t> s1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609600"/>
            <a:ext cx="1673274" cy="247650"/>
          </a:xfrm>
          <a:prstGeom prst="roundRect">
            <a:avLst>
              <a:gd name="adj" fmla="val 23076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628900"/>
            <a:ext cx="6035426" cy="2400300"/>
          </a:xfrm>
          <a:prstGeom prst="roundRect">
            <a:avLst>
              <a:gd name="adj" fmla="val 4761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47725" y="3143250"/>
            <a:ext cx="5559176" cy="1219051"/>
          </a:xfrm>
          <a:prstGeom prst="roundRect">
            <a:avLst>
              <a:gd name="adj" fmla="val 4688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949826" y="2628900"/>
            <a:ext cx="4632573" cy="1123950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949826" y="3905250"/>
            <a:ext cx="4632573" cy="1123950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949826" y="3743325"/>
            <a:ext cx="463257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949826" y="2628900"/>
            <a:ext cx="463257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949826" y="2628900"/>
            <a:ext cx="38100" cy="11239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572875" y="2628900"/>
            <a:ext cx="9525" cy="11239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49826" y="5019675"/>
            <a:ext cx="463257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949826" y="3905250"/>
            <a:ext cx="463257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949826" y="3905250"/>
            <a:ext cx="38100" cy="11239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572875" y="3905250"/>
            <a:ext cx="9525" cy="11239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2886075"/>
            <a:ext cx="123825" cy="12382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23900" y="647700"/>
            <a:ext cx="1539924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92400E"/>
                </a:solidFill>
                <a:latin typeface="Plus Jakarta Sans"/>
              </a:rPr>
              <a:t>АНАЛИЗ АНОМАЛИЙ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971550"/>
            <a:ext cx="115824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Контрпример важнее успешной метрики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7725" y="2867025"/>
            <a:ext cx="6948971" cy="161925"/>
          </a:xfrm>
          <a:prstGeom prst="rect">
            <a:avLst/>
          </a:prstGeom>
          <a:noFill/>
        </p:spPr>
        <p:txBody>
          <a:bodyPr wrap="none" lIns="123825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F43F5E"/>
                </a:solidFill>
                <a:latin typeface="JetBrains Mono"/>
              </a:rPr>
              <a:t>80 КОНТРПРИМЕРОВ В v1 (Сессии s2, s3)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2025" y="3257550"/>
            <a:ext cx="5425826" cy="9904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FDA4AF"/>
                </a:solidFill>
                <a:latin typeface="JetBrains Mono"/>
              </a:rPr>
              <a:t>offset 0: 02000003130055 -&gt; value 2 not in [1]</a:t>
            </a:r>
            <a:r>
              <a:t>
</a:t>
            </a:r>
            <a:r>
              <a:rPr b="0" sz="975" i="0" u="none">
                <a:solidFill>
                  <a:srgbClr val="FDA4AF"/>
                </a:solidFill>
                <a:latin typeface="JetBrains Mono"/>
              </a:rPr>
              <a:t> offset 7: 020000031400ff -&gt; value 2 not in [1]</a:t>
            </a:r>
            <a:r>
              <a:t>
</a:t>
            </a:r>
            <a:r>
              <a:rPr b="0" sz="975" i="0" u="none">
                <a:solidFill>
                  <a:srgbClr val="FDA4AF"/>
                </a:solidFill>
                <a:latin typeface="JetBrains Mono"/>
              </a:rPr>
              <a:t> offset 14: 0200000315009f -&gt; value 2 not in [1]</a:t>
            </a:r>
            <a:r>
              <a:t>
</a:t>
            </a:r>
            <a:r>
              <a:rPr b="0" sz="975" i="0" u="none">
                <a:solidFill>
                  <a:srgbClr val="FDA4AF"/>
                </a:solidFill>
                <a:latin typeface="JetBrains Mono"/>
              </a:rPr>
              <a:t> offset 21: 0200000313005c -&gt; value 2 not in [1]</a:t>
            </a:r>
            <a:r>
              <a:t>
</a:t>
            </a:r>
            <a:r>
              <a:rPr b="0" sz="975" i="0" u="none">
                <a:solidFill>
                  <a:srgbClr val="FDA4AF"/>
                </a:solidFill>
                <a:latin typeface="JetBrains Mono"/>
              </a:rPr>
              <a:t> offset 28: 02000003140003 -&gt; value 2 not in [1]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16526" y="2867025"/>
            <a:ext cx="4975473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Команда 0x02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16526" y="3152775"/>
            <a:ext cx="4222998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Появление байта 0x02 привело к 80 сбоям в первоначальной правиле v1.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16526" y="4143375"/>
            <a:ext cx="4975473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Связь с логами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16526" y="4429125"/>
            <a:ext cx="4222998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Сопоставление с журналом подтвердило: байт 0x02 соответствует действию «Изменить настройку».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743575"/>
            <a:ext cx="10972800" cy="504825"/>
          </a:xfrm>
          <a:prstGeom prst="roundRect">
            <a:avLst>
              <a:gd name="adj" fmla="val 15094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609600"/>
            <a:ext cx="1161157" cy="247650"/>
          </a:xfrm>
          <a:prstGeom prst="roundRect">
            <a:avLst>
              <a:gd name="adj" fmla="val 23076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2314575"/>
            <a:ext cx="4933950" cy="2524125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648450" y="2314575"/>
            <a:ext cx="4933950" cy="2524125"/>
          </a:xfrm>
          <a:prstGeom prst="roundRect">
            <a:avLst>
              <a:gd name="adj" fmla="val 4528"/>
            </a:avLst>
          </a:prstGeom>
          <a:solidFill>
            <a:srgbClr val="F0FDF4"/>
          </a:solidFill>
          <a:ln w="190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580382" y="2714625"/>
            <a:ext cx="992385" cy="247650"/>
          </a:xfrm>
          <a:prstGeom prst="roundRect">
            <a:avLst>
              <a:gd name="adj" fmla="val 23076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04944" y="2714625"/>
            <a:ext cx="1020960" cy="247650"/>
          </a:xfrm>
          <a:prstGeom prst="roundRect">
            <a:avLst>
              <a:gd name="adj" fmla="val 23076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4550" y="3419475"/>
            <a:ext cx="342900" cy="3429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23900" y="647700"/>
            <a:ext cx="1027807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766E"/>
                </a:solidFill>
                <a:latin typeface="Plus Jakarta Sans"/>
              </a:rPr>
              <a:t>РЕЗУЛЬТАТЫ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971550"/>
            <a:ext cx="115824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Прогресс точности разбора (v1 → v2)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-285750" y="5895975"/>
            <a:ext cx="127635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F8FAFC"/>
                </a:solidFill>
                <a:latin typeface="Plus Jakarta Sans"/>
              </a:rPr>
              <a:t>Проверено на реальном датасете организаторов: </a:t>
            </a:r>
            <a:r>
              <a:rPr b="1" sz="1200" i="0" u="none">
                <a:solidFill>
                  <a:srgbClr val="38BDF8"/>
                </a:solidFill>
                <a:latin typeface="Plus Jakarta Sans"/>
              </a:rPr>
              <a:t>45 запросов + 45 ответов</a:t>
            </a:r>
            <a:r>
              <a:rPr b="1" sz="1200" i="0" u="none">
                <a:solidFill>
                  <a:srgbClr val="F8FAFC"/>
                </a:solidFill>
                <a:latin typeface="Plus Jakarta Sans"/>
              </a:rPr>
              <a:t> (Precision 1.00)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51807" y="2752725"/>
            <a:ext cx="104953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64748B"/>
                </a:solidFill>
                <a:latin typeface="Plus Jakarta Sans"/>
              </a:rPr>
              <a:t>ВЕРСИЯ V1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2918" y="3114675"/>
            <a:ext cx="5167312" cy="76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4800" i="0" u="none">
                <a:solidFill>
                  <a:srgbClr val="EF4444"/>
                </a:solidFill>
                <a:latin typeface="Plus Jakarta Sans"/>
              </a:rPr>
              <a:t>0.43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2918" y="4029075"/>
            <a:ext cx="516731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64748B"/>
                </a:solidFill>
                <a:latin typeface="Plus Jakarta Sans"/>
              </a:rPr>
              <a:t>60 / 140 сообщений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2918" y="4267200"/>
            <a:ext cx="516731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0F172A"/>
                </a:solidFill>
                <a:latin typeface="Plus Jakarta Sans"/>
              </a:rPr>
              <a:t>80 контрпримеров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76369" y="2752725"/>
            <a:ext cx="107811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0F766E"/>
                </a:solidFill>
                <a:latin typeface="Plus Jakarta Sans"/>
              </a:rPr>
              <a:t>ВЕРСИЯ V2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1768" y="3114675"/>
            <a:ext cx="5167312" cy="76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4800" i="0" u="none">
                <a:solidFill>
                  <a:srgbClr val="059669"/>
                </a:solidFill>
                <a:latin typeface="Plus Jakarta Sans"/>
              </a:rPr>
              <a:t>1.00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1768" y="4029075"/>
            <a:ext cx="516731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15803D"/>
                </a:solidFill>
                <a:latin typeface="Plus Jakarta Sans"/>
              </a:rPr>
              <a:t>140 / 140 matched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1768" y="4267200"/>
            <a:ext cx="516731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166534"/>
                </a:solidFill>
                <a:latin typeface="Plus Jakarta Sans"/>
              </a:rPr>
              <a:t>0 контрпримеров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400675"/>
            <a:ext cx="10972800" cy="847725"/>
          </a:xfrm>
          <a:prstGeom prst="roundRect">
            <a:avLst>
              <a:gd name="adj" fmla="val 13483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609600"/>
            <a:ext cx="1828651" cy="247650"/>
          </a:xfrm>
          <a:prstGeom prst="roundRect">
            <a:avLst>
              <a:gd name="adj" fmla="val 23076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2590800"/>
            <a:ext cx="5372100" cy="1628775"/>
          </a:xfrm>
          <a:prstGeom prst="roundRect">
            <a:avLst>
              <a:gd name="adj" fmla="val 701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10300" y="2590800"/>
            <a:ext cx="5372100" cy="1628775"/>
          </a:xfrm>
          <a:prstGeom prst="roundRect">
            <a:avLst>
              <a:gd name="adj" fmla="val 701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47725" y="2828925"/>
            <a:ext cx="1376362" cy="247650"/>
          </a:xfrm>
          <a:prstGeom prst="roundRect">
            <a:avLst>
              <a:gd name="adj" fmla="val 23076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48425" y="2828925"/>
            <a:ext cx="1366837" cy="247650"/>
          </a:xfrm>
          <a:prstGeom prst="roundRect">
            <a:avLst>
              <a:gd name="adj" fmla="val 23076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7575" y="5681662"/>
            <a:ext cx="304800" cy="30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23900" y="647700"/>
            <a:ext cx="1695301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E40AF"/>
                </a:solidFill>
                <a:latin typeface="Plus Jakarta Sans"/>
              </a:rPr>
              <a:t>СБОРКА ФРАГМЕНТОВ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971550"/>
            <a:ext cx="115824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Обработка IPv4 и IPv6 фрагментации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625" y="5600700"/>
            <a:ext cx="506276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8FAFC"/>
                </a:solidFill>
                <a:latin typeface="Plus Jakarta Sans"/>
              </a:rPr>
              <a:t>12 интеграционных тестов фрагментации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625" y="5867400"/>
            <a:ext cx="506276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Plus Jakarta Sans"/>
              </a:rPr>
              <a:t>Статус </a:t>
            </a:r>
            <a:r>
              <a:rPr b="0" sz="1050" i="0" u="none">
                <a:solidFill>
                  <a:srgbClr val="EAB308"/>
                </a:solidFill>
                <a:latin typeface="Plus Jakarta Sans"/>
              </a:rPr>
              <a:t>incomplete</a:t>
            </a:r>
            <a:r>
              <a:rPr b="0" sz="1050" i="0" u="none">
                <a:solidFill>
                  <a:srgbClr val="94A3B8"/>
                </a:solidFill>
                <a:latin typeface="Plus Jakarta Sans"/>
              </a:rPr>
              <a:t> сохраняется до полного покрытия датаграммы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2025" y="2867025"/>
            <a:ext cx="1243012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E40AF"/>
                </a:solidFill>
                <a:latin typeface="Plus Jakarta Sans"/>
              </a:rPr>
              <a:t>IPV4 PROTOCOL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725" y="3228975"/>
            <a:ext cx="611981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Plus Jakarta Sans"/>
              </a:rPr>
              <a:t>• Группировка по 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id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 и 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protocol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725" y="3524250"/>
            <a:ext cx="6119812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Plus Jakarta Sans"/>
              </a:rPr>
              <a:t>• Смещение (offset) в блоках по 8 байт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725" y="3800475"/>
            <a:ext cx="6119812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Plus Jakarta Sans"/>
              </a:rPr>
              <a:t>• Неполные фрагменты не собираются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2725" y="2867025"/>
            <a:ext cx="1233487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766E"/>
                </a:solidFill>
                <a:latin typeface="Plus Jakarta Sans"/>
              </a:rPr>
              <a:t>IPV6 PROTOCOL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8425" y="3228975"/>
            <a:ext cx="57435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Plus Jakarta Sans"/>
              </a:rPr>
              <a:t>• Группировка по уникальному 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8425" y="3524250"/>
            <a:ext cx="574357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Plus Jakarta Sans"/>
              </a:rPr>
              <a:t>• Контроль перекрытия фрагментов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8425" y="3800475"/>
            <a:ext cx="574357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Plus Jakarta Sans"/>
              </a:rPr>
              <a:t>• Перекрывающиеся датаграммы отбрасываются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772150"/>
            <a:ext cx="10972800" cy="476250"/>
          </a:xfrm>
          <a:prstGeom prst="roundRect">
            <a:avLst>
              <a:gd name="adj" fmla="val 1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609600"/>
            <a:ext cx="1996380" cy="247650"/>
          </a:xfrm>
          <a:prstGeom prst="roundRect">
            <a:avLst>
              <a:gd name="adj" fmla="val 23076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2671762"/>
            <a:ext cx="3505200" cy="1838325"/>
          </a:xfrm>
          <a:prstGeom prst="roundRect">
            <a:avLst>
              <a:gd name="adj" fmla="val 621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343400" y="2671762"/>
            <a:ext cx="3505200" cy="1838325"/>
          </a:xfrm>
          <a:prstGeom prst="roundRect">
            <a:avLst>
              <a:gd name="adj" fmla="val 621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77200" y="2671762"/>
            <a:ext cx="3505200" cy="1838325"/>
          </a:xfrm>
          <a:prstGeom prst="roundRect">
            <a:avLst>
              <a:gd name="adj" fmla="val 621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8850" y="2986087"/>
            <a:ext cx="266700" cy="3048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4550" y="2986087"/>
            <a:ext cx="342900" cy="3048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77400" y="2986087"/>
            <a:ext cx="304800" cy="304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-304800" y="5924550"/>
            <a:ext cx="128016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475569"/>
                </a:solidFill>
                <a:latin typeface="Plus Jakarta Sans"/>
              </a:rPr>
              <a:t>Условия замера: 95.66 МиБ pcap, 250 000 пакетов, 1000 сессий, 4 vCPU / 16 ГБ RAM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3900" y="647700"/>
            <a:ext cx="186303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766E"/>
                </a:solidFill>
                <a:latin typeface="Plus Jakarta Sans"/>
              </a:rPr>
              <a:t>ПРОИЗВОДИТЕЛЬНОСТЬ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971550"/>
            <a:ext cx="115824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Набор организаторов разобран целиком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4356" y="3405187"/>
            <a:ext cx="3595687" cy="581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0F172A"/>
                </a:solidFill>
                <a:latin typeface="Plus Jakarta Sans"/>
              </a:rPr>
              <a:t>12 сек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4356" y="4024312"/>
            <a:ext cx="359568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64748B"/>
                </a:solidFill>
                <a:latin typeface="Plus Jakarta Sans"/>
              </a:rPr>
              <a:t>Общее время обработки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8156" y="3405187"/>
            <a:ext cx="3595687" cy="581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0F172A"/>
                </a:solidFill>
                <a:latin typeface="Plus Jakarta Sans"/>
              </a:rPr>
              <a:t>350 МиБ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8156" y="4024312"/>
            <a:ext cx="359568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64748B"/>
                </a:solidFill>
                <a:latin typeface="Plus Jakarta Sans"/>
              </a:rPr>
              <a:t>Пик памяти (9% от 4 ГБ)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31956" y="3405187"/>
            <a:ext cx="3595687" cy="581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0F172A"/>
                </a:solidFill>
                <a:latin typeface="Plus Jakarta Sans"/>
              </a:rPr>
              <a:t>250k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1956" y="4024312"/>
            <a:ext cx="359568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64748B"/>
                </a:solidFill>
                <a:latin typeface="Plus Jakarta Sans"/>
              </a:rPr>
              <a:t>Обработанных пакетов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609600"/>
            <a:ext cx="2170062" cy="247650"/>
          </a:xfrm>
          <a:prstGeom prst="roundRect">
            <a:avLst>
              <a:gd name="adj" fmla="val 23076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152775"/>
            <a:ext cx="5334000" cy="1352550"/>
          </a:xfrm>
          <a:prstGeom prst="roundRect">
            <a:avLst>
              <a:gd name="adj" fmla="val 845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48400" y="3152775"/>
            <a:ext cx="5334000" cy="1352550"/>
          </a:xfrm>
          <a:prstGeom prst="roundRect">
            <a:avLst>
              <a:gd name="adj" fmla="val 845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4495800"/>
            <a:ext cx="5334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3152775"/>
            <a:ext cx="5334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3152775"/>
            <a:ext cx="38100" cy="13525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34075" y="3152775"/>
            <a:ext cx="9525" cy="13525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48400" y="4495800"/>
            <a:ext cx="5334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48400" y="3152775"/>
            <a:ext cx="5334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48400" y="3152775"/>
            <a:ext cx="38100" cy="135255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572875" y="3152775"/>
            <a:ext cx="9525" cy="13525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3819525"/>
            <a:ext cx="142875" cy="1428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4114800"/>
            <a:ext cx="142875" cy="14287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100" y="3819525"/>
            <a:ext cx="142875" cy="1428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100" y="4114800"/>
            <a:ext cx="142875" cy="14287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23900" y="647700"/>
            <a:ext cx="2036712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92400E"/>
                </a:solidFill>
                <a:latin typeface="Plus Jakarta Sans"/>
              </a:rPr>
              <a:t>ГРАНИЦЫ ПРИМЕНИМОСТИ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971550"/>
            <a:ext cx="115824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Честное определение ограничений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6300" y="3390900"/>
            <a:ext cx="6338292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ЧТО МЫ НЕ УТВЕРЖДАЕМ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5100" y="3390900"/>
            <a:ext cx="56769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ЗА РАМКАМИ РЕШЕНИЯ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6300" y="3790950"/>
            <a:ext cx="6036468" cy="180975"/>
          </a:xfrm>
          <a:prstGeom prst="rect">
            <a:avLst/>
          </a:prstGeom>
          <a:noFill/>
        </p:spPr>
        <p:txBody>
          <a:bodyPr wrap="none" lIns="219075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Plus Jakarta Sans"/>
              </a:rPr>
              <a:t>Смысл байта флагов не установлен (постоянен в дампе)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6300" y="4086225"/>
            <a:ext cx="6036468" cy="180975"/>
          </a:xfrm>
          <a:prstGeom prst="rect">
            <a:avLst/>
          </a:prstGeom>
          <a:noFill/>
        </p:spPr>
        <p:txBody>
          <a:bodyPr wrap="none" lIns="219075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Plus Jakarta Sans"/>
              </a:rPr>
              <a:t>Поле значения остается гипотезой, а не фактом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5100" y="3790950"/>
            <a:ext cx="5676900" cy="180975"/>
          </a:xfrm>
          <a:prstGeom prst="rect">
            <a:avLst/>
          </a:prstGeom>
          <a:noFill/>
        </p:spPr>
        <p:txBody>
          <a:bodyPr wrap="none" lIns="219075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Plus Jakarta Sans"/>
              </a:rPr>
              <a:t>Альтернативные чтения берутся из заданного набора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5100" y="4086225"/>
            <a:ext cx="5676900" cy="180975"/>
          </a:xfrm>
          <a:prstGeom prst="rect">
            <a:avLst/>
          </a:prstGeom>
          <a:noFill/>
        </p:spPr>
        <p:txBody>
          <a:bodyPr wrap="none" lIns="219075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Plus Jakarta Sans"/>
              </a:rPr>
              <a:t>Интерпретация гарантирована только для проверенных захватов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62250" y="3624262"/>
            <a:ext cx="6667500" cy="1152525"/>
          </a:xfrm>
          <a:prstGeom prst="roundRect">
            <a:avLst>
              <a:gd name="adj" fmla="val 9917"/>
            </a:avLst>
          </a:prstGeom>
          <a:solidFill>
            <a:srgbClr val="1B2538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5848350"/>
            <a:ext cx="10972800" cy="4000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503812" y="990600"/>
            <a:ext cx="1184374" cy="247650"/>
          </a:xfrm>
          <a:prstGeom prst="roundRect">
            <a:avLst>
              <a:gd name="adj" fmla="val 23076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5848350"/>
            <a:ext cx="109728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70066" y="1028700"/>
            <a:ext cx="1251867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0F766E"/>
                </a:solidFill>
                <a:latin typeface="Plus Jakarta Sans"/>
              </a:rPr>
              <a:t>РЕЛИЗ V1.0.0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-381000" y="1390650"/>
            <a:ext cx="12954000" cy="1162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F8FAFC"/>
                </a:solidFill>
                <a:latin typeface="Plus Jakarta Sans"/>
              </a:rPr>
              <a:t>Инструмент превращает байты</a:t>
            </a:r>
            <a:r>
              <a:t>
</a:t>
            </a:r>
            <a:r>
              <a:rPr b="1" sz="3600" i="0" u="none">
                <a:solidFill>
                  <a:srgbClr val="F8FAFC"/>
                </a:solidFill>
                <a:latin typeface="Plus Jakarta Sans"/>
              </a:rPr>
              <a:t> в проверяемое знание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21718" y="3938587"/>
            <a:ext cx="754856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94A3B8"/>
                </a:solidFill>
                <a:latin typeface="Plus Jakarta Sans"/>
              </a:rPr>
              <a:t>ИСХОДНЫЙ КОД ПРОЕКТА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21718" y="4186237"/>
            <a:ext cx="7548562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38BDF8"/>
                </a:solidFill>
                <a:latin typeface="JetBrains Mono"/>
              </a:rPr>
              <a:t>github.com/Pavel1778/madrigal-protocol-lab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53525" y="6062662"/>
            <a:ext cx="303609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Madrigal Protocol Lab · UMIRHack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048375"/>
            <a:ext cx="11715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94A3B8"/>
                </a:solidFill>
                <a:latin typeface="Plus Jakarta Sans"/>
              </a:rPr>
              <a:t>@Pasha1778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24025" y="6048375"/>
            <a:ext cx="9906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94A3B8"/>
                </a:solidFill>
                <a:latin typeface="Plus Jakarta Sans"/>
              </a:rPr>
              <a:t>@petruan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